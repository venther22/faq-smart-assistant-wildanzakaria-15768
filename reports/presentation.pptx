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6"/>
  </p:notesMasterIdLst>
  <p:handoutMasterIdLst>
    <p:handoutMasterId r:id="rId17"/>
  </p:handoutMasterIdLst>
  <p:sldIdLst>
    <p:sldId id="256" r:id="rId5"/>
    <p:sldId id="258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7/19/2026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58509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EAF2A-FCE5-08E0-A921-62ACE65A9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4BF1FF-CC34-55C2-3807-818F32B24C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03026C-FC27-34AB-B3B9-EBAD17075E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72BC9-6982-A7F4-7033-5437925CA0C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6836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8E48A-CD5A-F94F-0976-0DC52FE896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372DD5-D9BA-2B0C-A927-E369A50443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DAC4C1D-B0E8-CFE6-D799-059559E26E7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11E69-2E5B-E7C0-BECD-48FC38AB39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44547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DF4DA-E20F-F4E6-F28C-AC55735D0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557EEA3-F01F-75FB-70BD-3B2D8E7304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948B4A-C417-1315-B2A0-1A5CEAD11C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BDF312-4EE9-7210-B9BD-17AAB5D3CB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38206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385C1-AAE8-A515-911E-DD35F77EE5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30D077-2247-8C72-337A-2E8FDA3EE5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9309A2-834A-BC01-C5ED-2838E1D10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0CD2B-BFA2-0A70-AEBE-93310C315B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61159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78F1CE-59F2-65FB-E733-C57FCE4BE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81094A-88E7-596C-9ED7-BA63F210D82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2A6505-1957-72EF-D786-BF53B44870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4AC00-2EB5-9741-760E-36088BEF6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1671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7/19/2026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pPr algn="just"/>
            <a:r>
              <a:rPr lang="en-ID" sz="2000" dirty="0">
                <a:solidFill>
                  <a:schemeClr val="bg2"/>
                </a:solidFill>
              </a:rPr>
              <a:t>PENGEMBANGAN SISTEM SMART ASSISTANT BERBASIS MACHINE LEARNING UNTUK KLASIFIKASI FAQ TARUNA/I STMKG</a:t>
            </a:r>
            <a:endParaRPr lang="en-US" sz="2000" dirty="0">
              <a:solidFill>
                <a:schemeClr val="bg2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7CEBFF"/>
                </a:solidFill>
              </a:rPr>
              <a:t>Nama:  WILDAN Zakaria | nim:  a11.2024.15768 | </a:t>
            </a:r>
            <a:r>
              <a:rPr lang="en-US" dirty="0" err="1">
                <a:solidFill>
                  <a:srgbClr val="7CEBFF"/>
                </a:solidFill>
              </a:rPr>
              <a:t>kelompok</a:t>
            </a:r>
            <a:r>
              <a:rPr lang="en-US" dirty="0">
                <a:solidFill>
                  <a:srgbClr val="7CEBFF"/>
                </a:solidFill>
              </a:rPr>
              <a:t>:  a11.4404 | </a:t>
            </a:r>
            <a:r>
              <a:rPr lang="en-US" dirty="0" err="1">
                <a:solidFill>
                  <a:srgbClr val="7CEBFF"/>
                </a:solidFill>
              </a:rPr>
              <a:t>mata</a:t>
            </a:r>
            <a:r>
              <a:rPr lang="en-US" dirty="0">
                <a:solidFill>
                  <a:srgbClr val="7CEBFF"/>
                </a:solidFill>
              </a:rPr>
              <a:t> </a:t>
            </a:r>
            <a:r>
              <a:rPr lang="en-US" dirty="0" err="1">
                <a:solidFill>
                  <a:srgbClr val="7CEBFF"/>
                </a:solidFill>
              </a:rPr>
              <a:t>kuliah</a:t>
            </a:r>
            <a:r>
              <a:rPr lang="en-US" dirty="0">
                <a:solidFill>
                  <a:srgbClr val="7CEBFF"/>
                </a:solidFill>
              </a:rPr>
              <a:t>: </a:t>
            </a:r>
            <a:r>
              <a:rPr lang="en-US" dirty="0" err="1">
                <a:solidFill>
                  <a:srgbClr val="7CEBFF"/>
                </a:solidFill>
              </a:rPr>
              <a:t>pembelajaran</a:t>
            </a:r>
            <a:r>
              <a:rPr lang="en-US" dirty="0">
                <a:solidFill>
                  <a:srgbClr val="7CEBFF"/>
                </a:solidFill>
              </a:rPr>
              <a:t> </a:t>
            </a:r>
            <a:r>
              <a:rPr lang="en-US" dirty="0" err="1">
                <a:solidFill>
                  <a:srgbClr val="7CEBFF"/>
                </a:solidFill>
              </a:rPr>
              <a:t>mesin</a:t>
            </a:r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Latar BELAKANG MASALAH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057767-C9B0-A753-7D0D-11E9AD2FEA77}"/>
              </a:ext>
            </a:extLst>
          </p:cNvPr>
          <p:cNvSpPr txBox="1"/>
          <p:nvPr/>
        </p:nvSpPr>
        <p:spPr>
          <a:xfrm>
            <a:off x="1022555" y="2202427"/>
            <a:ext cx="9891251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000" dirty="0" err="1"/>
              <a:t>Sekolah</a:t>
            </a:r>
            <a:r>
              <a:rPr lang="en-ID" sz="2000" dirty="0"/>
              <a:t> Tinggi </a:t>
            </a:r>
            <a:r>
              <a:rPr lang="en-ID" sz="2000" dirty="0" err="1"/>
              <a:t>Meteorologi</a:t>
            </a:r>
            <a:r>
              <a:rPr lang="en-ID" sz="2000" dirty="0"/>
              <a:t> </a:t>
            </a:r>
            <a:r>
              <a:rPr lang="en-ID" sz="2000" dirty="0" err="1"/>
              <a:t>Klimatologi</a:t>
            </a:r>
            <a:r>
              <a:rPr lang="en-ID" sz="2000" dirty="0"/>
              <a:t> dan </a:t>
            </a:r>
            <a:r>
              <a:rPr lang="en-ID" sz="2000" dirty="0" err="1"/>
              <a:t>Geofisika</a:t>
            </a:r>
            <a:r>
              <a:rPr lang="en-ID" sz="2000" dirty="0"/>
              <a:t> (STMKG)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institusi</a:t>
            </a:r>
            <a:r>
              <a:rPr lang="en-ID" sz="2000" dirty="0"/>
              <a:t> </a:t>
            </a:r>
            <a:r>
              <a:rPr lang="en-ID" sz="2000" dirty="0" err="1"/>
              <a:t>pendidikan</a:t>
            </a:r>
            <a:r>
              <a:rPr lang="en-ID" sz="2000" dirty="0"/>
              <a:t> </a:t>
            </a:r>
            <a:r>
              <a:rPr lang="en-ID" sz="2000" dirty="0" err="1"/>
              <a:t>kedinasan</a:t>
            </a:r>
            <a:r>
              <a:rPr lang="en-ID" sz="2000" dirty="0"/>
              <a:t> </a:t>
            </a:r>
            <a:r>
              <a:rPr lang="en-ID" sz="2000" dirty="0" err="1"/>
              <a:t>senantiasa</a:t>
            </a:r>
            <a:r>
              <a:rPr lang="en-ID" sz="2000" dirty="0"/>
              <a:t> </a:t>
            </a:r>
            <a:r>
              <a:rPr lang="en-ID" sz="2000" dirty="0" err="1"/>
              <a:t>menerima</a:t>
            </a:r>
            <a:r>
              <a:rPr lang="en-ID" sz="2000" dirty="0"/>
              <a:t> volume </a:t>
            </a:r>
            <a:r>
              <a:rPr lang="en-ID" sz="2000" dirty="0" err="1"/>
              <a:t>pertanyaan</a:t>
            </a:r>
            <a:r>
              <a:rPr lang="en-ID" sz="2000" dirty="0"/>
              <a:t> yang </a:t>
            </a:r>
            <a:r>
              <a:rPr lang="en-ID" sz="2000" dirty="0" err="1"/>
              <a:t>masif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para </a:t>
            </a:r>
            <a:r>
              <a:rPr lang="en-ID" sz="2000" dirty="0" err="1"/>
              <a:t>taruna</a:t>
            </a:r>
            <a:r>
              <a:rPr lang="en-ID" sz="2000" dirty="0"/>
              <a:t> dan </a:t>
            </a:r>
            <a:r>
              <a:rPr lang="en-ID" sz="2000" dirty="0" err="1"/>
              <a:t>taruni</a:t>
            </a:r>
            <a:r>
              <a:rPr lang="en-ID" sz="2000" dirty="0"/>
              <a:t> pada </a:t>
            </a:r>
            <a:r>
              <a:rPr lang="en-ID" sz="2000" dirty="0" err="1"/>
              <a:t>setiap</a:t>
            </a:r>
            <a:r>
              <a:rPr lang="en-ID" sz="2000" dirty="0"/>
              <a:t> semester </a:t>
            </a:r>
            <a:r>
              <a:rPr lang="en-ID" sz="2000" dirty="0" err="1"/>
              <a:t>berjalan</a:t>
            </a:r>
            <a:r>
              <a:rPr lang="en-ID" sz="2000" dirty="0"/>
              <a:t>. </a:t>
            </a:r>
            <a:r>
              <a:rPr lang="en-ID" sz="2000" dirty="0" err="1"/>
              <a:t>Interaksi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didominasi</a:t>
            </a:r>
            <a:r>
              <a:rPr lang="en-ID" sz="2000" dirty="0"/>
              <a:t> oleh </a:t>
            </a:r>
            <a:r>
              <a:rPr lang="en-ID" sz="2000" dirty="0" err="1"/>
              <a:t>pertanyaan-pertanyaan</a:t>
            </a:r>
            <a:r>
              <a:rPr lang="en-ID" sz="2000" dirty="0"/>
              <a:t> yang </a:t>
            </a:r>
            <a:r>
              <a:rPr lang="en-ID" sz="2000" dirty="0" err="1"/>
              <a:t>bersifat</a:t>
            </a:r>
            <a:r>
              <a:rPr lang="en-ID" sz="2000" dirty="0"/>
              <a:t> </a:t>
            </a:r>
            <a:r>
              <a:rPr lang="en-ID" sz="2000" dirty="0" err="1"/>
              <a:t>repetitif</a:t>
            </a:r>
            <a:r>
              <a:rPr lang="en-ID" sz="2000" dirty="0"/>
              <a:t> (</a:t>
            </a:r>
            <a:r>
              <a:rPr lang="en-ID" sz="2000" i="1" dirty="0"/>
              <a:t>Frequently Asked Questions</a:t>
            </a:r>
            <a:r>
              <a:rPr lang="en-ID" sz="2000" dirty="0"/>
              <a:t> / FAQ) yang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umum</a:t>
            </a:r>
            <a:r>
              <a:rPr lang="en-ID" sz="2000" dirty="0"/>
              <a:t> </a:t>
            </a:r>
            <a:r>
              <a:rPr lang="en-ID" sz="2000" dirty="0" err="1"/>
              <a:t>terpusat</a:t>
            </a:r>
            <a:r>
              <a:rPr lang="en-ID" sz="2000" dirty="0"/>
              <a:t> pada </a:t>
            </a:r>
            <a:r>
              <a:rPr lang="en-ID" sz="2000" dirty="0" err="1"/>
              <a:t>tiga</a:t>
            </a:r>
            <a:r>
              <a:rPr lang="en-ID" sz="2000" dirty="0"/>
              <a:t> domain </a:t>
            </a:r>
            <a:r>
              <a:rPr lang="en-ID" sz="2000" dirty="0" err="1"/>
              <a:t>regulasi</a:t>
            </a:r>
            <a:r>
              <a:rPr lang="en-ID" sz="2000" dirty="0"/>
              <a:t> </a:t>
            </a:r>
            <a:r>
              <a:rPr lang="en-ID" sz="2000" dirty="0" err="1"/>
              <a:t>utama</a:t>
            </a:r>
            <a:r>
              <a:rPr lang="en-ID" sz="2000" dirty="0"/>
              <a:t>, </a:t>
            </a:r>
            <a:r>
              <a:rPr lang="en-ID" sz="2000" dirty="0" err="1"/>
              <a:t>yaitu</a:t>
            </a:r>
            <a:r>
              <a:rPr lang="en-ID" sz="2000" dirty="0"/>
              <a:t>: </a:t>
            </a:r>
            <a:r>
              <a:rPr lang="en-ID" sz="2000" dirty="0" err="1"/>
              <a:t>aturan</a:t>
            </a:r>
            <a:r>
              <a:rPr lang="en-ID" sz="2000" dirty="0"/>
              <a:t> tata </a:t>
            </a:r>
            <a:r>
              <a:rPr lang="en-ID" sz="2000" dirty="0" err="1"/>
              <a:t>tertib</a:t>
            </a:r>
            <a:r>
              <a:rPr lang="en-ID" sz="2000" dirty="0"/>
              <a:t> </a:t>
            </a:r>
            <a:r>
              <a:rPr lang="en-ID" sz="2000" dirty="0" err="1"/>
              <a:t>kedisiplinan</a:t>
            </a:r>
            <a:r>
              <a:rPr lang="en-ID" sz="2000" dirty="0"/>
              <a:t>, </a:t>
            </a:r>
            <a:r>
              <a:rPr lang="en-ID" sz="2000" dirty="0" err="1"/>
              <a:t>struktur</a:t>
            </a:r>
            <a:r>
              <a:rPr lang="en-ID" sz="2000" dirty="0"/>
              <a:t> </a:t>
            </a:r>
            <a:r>
              <a:rPr lang="en-ID" sz="2000" dirty="0" err="1"/>
              <a:t>kurikulum</a:t>
            </a:r>
            <a:r>
              <a:rPr lang="en-ID" sz="2000" dirty="0"/>
              <a:t> </a:t>
            </a:r>
            <a:r>
              <a:rPr lang="en-ID" sz="2000" dirty="0" err="1"/>
              <a:t>akademik</a:t>
            </a:r>
            <a:r>
              <a:rPr lang="en-ID" sz="2000" dirty="0"/>
              <a:t>, </a:t>
            </a:r>
            <a:r>
              <a:rPr lang="en-ID" sz="2000" dirty="0" err="1"/>
              <a:t>serta</a:t>
            </a:r>
            <a:r>
              <a:rPr lang="en-ID" sz="2000" dirty="0"/>
              <a:t> </a:t>
            </a:r>
            <a:r>
              <a:rPr lang="en-ID" sz="2000" dirty="0" err="1"/>
              <a:t>pedoman</a:t>
            </a:r>
            <a:r>
              <a:rPr lang="en-ID" sz="2000" dirty="0"/>
              <a:t> </a:t>
            </a:r>
            <a:r>
              <a:rPr lang="en-ID" sz="2000" dirty="0" err="1"/>
              <a:t>penyusunan</a:t>
            </a:r>
            <a:r>
              <a:rPr lang="en-ID" sz="2000" dirty="0"/>
              <a:t> </a:t>
            </a:r>
            <a:r>
              <a:rPr lang="en-ID" sz="2000" dirty="0" err="1"/>
              <a:t>tugas</a:t>
            </a:r>
            <a:r>
              <a:rPr lang="en-ID" sz="2000" dirty="0"/>
              <a:t> </a:t>
            </a:r>
            <a:r>
              <a:rPr lang="en-ID" sz="2000" dirty="0" err="1"/>
              <a:t>akhir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skripsi</a:t>
            </a:r>
            <a:r>
              <a:rPr lang="en-ID" sz="2000" dirty="0"/>
              <a:t>.</a:t>
            </a:r>
          </a:p>
          <a:p>
            <a:pPr algn="just"/>
            <a:endParaRPr lang="en-ID" sz="2000" dirty="0"/>
          </a:p>
          <a:p>
            <a:pPr algn="just"/>
            <a:r>
              <a:rPr lang="en-ID" sz="2000" dirty="0" err="1"/>
              <a:t>Permasalahan</a:t>
            </a:r>
            <a:r>
              <a:rPr lang="en-ID" sz="2000" dirty="0"/>
              <a:t> </a:t>
            </a:r>
            <a:r>
              <a:rPr lang="en-ID" sz="2000" dirty="0" err="1"/>
              <a:t>utama</a:t>
            </a:r>
            <a:r>
              <a:rPr lang="en-ID" sz="2000" dirty="0"/>
              <a:t> </a:t>
            </a:r>
            <a:r>
              <a:rPr lang="en-ID" sz="2000" dirty="0" err="1"/>
              <a:t>muncul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</a:t>
            </a:r>
            <a:r>
              <a:rPr lang="en-ID" sz="2000" dirty="0" err="1"/>
              <a:t>penanganan</a:t>
            </a:r>
            <a:r>
              <a:rPr lang="en-ID" sz="2000" dirty="0"/>
              <a:t> </a:t>
            </a:r>
            <a:r>
              <a:rPr lang="en-ID" sz="2000" dirty="0" err="1"/>
              <a:t>konvensional</a:t>
            </a:r>
            <a:r>
              <a:rPr lang="en-ID" sz="2000" dirty="0"/>
              <a:t>. </a:t>
            </a:r>
            <a:r>
              <a:rPr lang="en-ID" sz="2000" dirty="0" err="1"/>
              <a:t>Pencarian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manual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membaca</a:t>
            </a:r>
            <a:r>
              <a:rPr lang="en-ID" sz="2000" dirty="0"/>
              <a:t> </a:t>
            </a:r>
            <a:r>
              <a:rPr lang="en-ID" sz="2000" dirty="0" err="1"/>
              <a:t>tumpukan</a:t>
            </a:r>
            <a:r>
              <a:rPr lang="en-ID" sz="2000" dirty="0"/>
              <a:t> </a:t>
            </a:r>
            <a:r>
              <a:rPr lang="en-ID" sz="2000" dirty="0" err="1"/>
              <a:t>arsip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dirty="0" err="1"/>
              <a:t>menelusuri</a:t>
            </a:r>
            <a:r>
              <a:rPr lang="en-ID" sz="2000" dirty="0"/>
              <a:t> </a:t>
            </a:r>
            <a:r>
              <a:rPr lang="en-ID" sz="2000" i="1" dirty="0"/>
              <a:t>file</a:t>
            </a:r>
            <a:r>
              <a:rPr lang="en-ID" sz="2000" dirty="0"/>
              <a:t> PDF </a:t>
            </a:r>
            <a:r>
              <a:rPr lang="en-ID" sz="2000" dirty="0" err="1"/>
              <a:t>satu</a:t>
            </a:r>
            <a:r>
              <a:rPr lang="en-ID" sz="2000" dirty="0"/>
              <a:t> per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hanya</a:t>
            </a:r>
            <a:r>
              <a:rPr lang="en-ID" sz="2000" dirty="0"/>
              <a:t> </a:t>
            </a:r>
            <a:r>
              <a:rPr lang="en-ID" sz="2000" dirty="0" err="1"/>
              <a:t>membebani</a:t>
            </a:r>
            <a:r>
              <a:rPr lang="en-ID" sz="2000" dirty="0"/>
              <a:t> </a:t>
            </a:r>
            <a:r>
              <a:rPr lang="en-ID" sz="2000" dirty="0" err="1"/>
              <a:t>tenaga</a:t>
            </a:r>
            <a:r>
              <a:rPr lang="en-ID" sz="2000" dirty="0"/>
              <a:t> </a:t>
            </a:r>
            <a:r>
              <a:rPr lang="en-ID" sz="2000" dirty="0" err="1"/>
              <a:t>kependidikan</a:t>
            </a:r>
            <a:r>
              <a:rPr lang="en-ID" sz="2000" dirty="0"/>
              <a:t>, </a:t>
            </a:r>
            <a:r>
              <a:rPr lang="en-ID" sz="2000" dirty="0" err="1"/>
              <a:t>tetapi</a:t>
            </a:r>
            <a:r>
              <a:rPr lang="en-ID" sz="2000" dirty="0"/>
              <a:t> juga </a:t>
            </a:r>
            <a:r>
              <a:rPr lang="en-ID" sz="2000" dirty="0" err="1"/>
              <a:t>memicu</a:t>
            </a:r>
            <a:r>
              <a:rPr lang="en-ID" sz="2000" dirty="0"/>
              <a:t> </a:t>
            </a:r>
            <a:r>
              <a:rPr lang="en-ID" sz="2000" dirty="0" err="1"/>
              <a:t>keterlambatan</a:t>
            </a:r>
            <a:r>
              <a:rPr lang="en-ID" sz="2000" dirty="0"/>
              <a:t> </a:t>
            </a:r>
            <a:r>
              <a:rPr lang="en-ID" sz="2000" dirty="0" err="1"/>
              <a:t>respons</a:t>
            </a:r>
            <a:r>
              <a:rPr lang="en-ID" sz="2000" dirty="0"/>
              <a:t>. Oleh </a:t>
            </a:r>
            <a:r>
              <a:rPr lang="en-ID" sz="2000" dirty="0" err="1"/>
              <a:t>karena</a:t>
            </a:r>
            <a:r>
              <a:rPr lang="en-ID" sz="2000" dirty="0"/>
              <a:t> </a:t>
            </a:r>
            <a:r>
              <a:rPr lang="en-ID" sz="2000" dirty="0" err="1"/>
              <a:t>itu</a:t>
            </a:r>
            <a:r>
              <a:rPr lang="en-ID" sz="2000" dirty="0"/>
              <a:t>, </a:t>
            </a:r>
            <a:r>
              <a:rPr lang="en-ID" sz="2000" dirty="0" err="1"/>
              <a:t>diperlukan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pendekatan</a:t>
            </a:r>
            <a:r>
              <a:rPr lang="en-ID" sz="2000" dirty="0"/>
              <a:t> </a:t>
            </a:r>
            <a:r>
              <a:rPr lang="en-ID" sz="2000" dirty="0" err="1"/>
              <a:t>otomatisasi</a:t>
            </a:r>
            <a:r>
              <a:rPr lang="en-ID" sz="2000" dirty="0"/>
              <a:t> </a:t>
            </a:r>
            <a:r>
              <a:rPr lang="en-ID" sz="2000" dirty="0" err="1"/>
              <a:t>cerdas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i="1" dirty="0"/>
              <a:t>Artificial Intelligence</a:t>
            </a:r>
            <a:r>
              <a:rPr lang="en-ID" sz="2000" dirty="0"/>
              <a:t> yang </a:t>
            </a:r>
            <a:r>
              <a:rPr lang="en-ID" sz="2000" dirty="0" err="1"/>
              <a:t>mampu</a:t>
            </a:r>
            <a:r>
              <a:rPr lang="en-ID" sz="2000" dirty="0"/>
              <a:t> </a:t>
            </a:r>
            <a:r>
              <a:rPr lang="en-ID" sz="2000" dirty="0" err="1"/>
              <a:t>mendigitalisasi</a:t>
            </a:r>
            <a:r>
              <a:rPr lang="en-ID" sz="2000" dirty="0"/>
              <a:t> dan </a:t>
            </a:r>
            <a:r>
              <a:rPr lang="en-ID" sz="2000" dirty="0" err="1"/>
              <a:t>mempercepat</a:t>
            </a:r>
            <a:r>
              <a:rPr lang="en-ID" sz="2000" dirty="0"/>
              <a:t> </a:t>
            </a:r>
            <a:r>
              <a:rPr lang="en-ID" sz="2000" dirty="0" err="1"/>
              <a:t>alur</a:t>
            </a:r>
            <a:r>
              <a:rPr lang="en-ID" sz="2000" dirty="0"/>
              <a:t> </a:t>
            </a:r>
            <a:r>
              <a:rPr lang="en-ID" sz="2000" dirty="0" err="1"/>
              <a:t>informasi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fase</a:t>
            </a:r>
            <a:r>
              <a:rPr lang="en-ID" sz="2000" dirty="0"/>
              <a:t> </a:t>
            </a:r>
            <a:r>
              <a:rPr lang="en-ID" sz="2000" dirty="0" err="1"/>
              <a:t>reaktif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proaktif</a:t>
            </a:r>
            <a:r>
              <a:rPr lang="en-ID" sz="2000" dirty="0"/>
              <a:t>.</a:t>
            </a:r>
          </a:p>
          <a:p>
            <a:pPr algn="just"/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56370-B830-F7B3-4A38-3BAA4AC66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3488E-A222-5059-3711-2E7DA8749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TUJUAN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704367-B699-66D1-0481-29C55D015A4E}"/>
              </a:ext>
            </a:extLst>
          </p:cNvPr>
          <p:cNvSpPr txBox="1"/>
          <p:nvPr/>
        </p:nvSpPr>
        <p:spPr>
          <a:xfrm>
            <a:off x="1022555" y="2202427"/>
            <a:ext cx="9891251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/>
              <a:t>Tujuan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proyek</a:t>
            </a:r>
            <a:r>
              <a:rPr lang="en-ID" sz="2000" dirty="0"/>
              <a:t> </a:t>
            </a:r>
            <a:r>
              <a:rPr lang="en-ID" sz="2000" i="1" dirty="0"/>
              <a:t>Capstone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adalah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merancang</a:t>
            </a:r>
            <a:r>
              <a:rPr lang="en-ID" sz="2000" dirty="0"/>
              <a:t>, </a:t>
            </a:r>
            <a:r>
              <a:rPr lang="en-ID" sz="2000" dirty="0" err="1"/>
              <a:t>melatih</a:t>
            </a:r>
            <a:r>
              <a:rPr lang="en-ID" sz="2000" dirty="0"/>
              <a:t>, dan </a:t>
            </a:r>
            <a:r>
              <a:rPr lang="en-ID" sz="2000" dirty="0" err="1"/>
              <a:t>mengimplementasikan</a:t>
            </a:r>
            <a:r>
              <a:rPr lang="en-ID" sz="2000" dirty="0"/>
              <a:t> </a:t>
            </a:r>
            <a:r>
              <a:rPr lang="en-ID" sz="2000" dirty="0" err="1"/>
              <a:t>sebuah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i="1" dirty="0"/>
              <a:t>Smart Assistant</a:t>
            </a:r>
            <a:r>
              <a:rPr lang="en-ID" sz="2000" dirty="0"/>
              <a:t> </a:t>
            </a:r>
            <a:r>
              <a:rPr lang="en-ID" sz="2000" dirty="0" err="1"/>
              <a:t>berbasis</a:t>
            </a:r>
            <a:r>
              <a:rPr lang="en-ID" sz="2000" dirty="0"/>
              <a:t> </a:t>
            </a:r>
            <a:r>
              <a:rPr lang="en-ID" sz="2000" i="1" dirty="0"/>
              <a:t>Machine Learning</a:t>
            </a:r>
            <a:r>
              <a:rPr lang="en-ID" sz="2000" dirty="0"/>
              <a:t> dan </a:t>
            </a:r>
            <a:r>
              <a:rPr lang="en-ID" sz="2000" dirty="0" err="1"/>
              <a:t>Pemrosesan</a:t>
            </a:r>
            <a:r>
              <a:rPr lang="en-ID" sz="2000" dirty="0"/>
              <a:t> Bahasa Alami (</a:t>
            </a:r>
            <a:r>
              <a:rPr lang="en-ID" sz="2000" i="1" dirty="0"/>
              <a:t>Natural Language Processing</a:t>
            </a:r>
            <a:r>
              <a:rPr lang="en-ID" sz="2000" dirty="0"/>
              <a:t>).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dirancang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beroperasi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mandiri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perantara</a:t>
            </a:r>
            <a:r>
              <a:rPr lang="en-ID" sz="2000" dirty="0"/>
              <a:t> </a:t>
            </a:r>
            <a:r>
              <a:rPr lang="en-ID" sz="2000" dirty="0" err="1"/>
              <a:t>cerdas</a:t>
            </a:r>
            <a:r>
              <a:rPr lang="en-ID" sz="2000" dirty="0"/>
              <a:t>.</a:t>
            </a:r>
          </a:p>
          <a:p>
            <a:r>
              <a:rPr lang="en-ID" sz="2000" dirty="0" err="1"/>
              <a:t>Berbeda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pencarian</a:t>
            </a:r>
            <a:r>
              <a:rPr lang="en-ID" sz="2000" dirty="0"/>
              <a:t> kata </a:t>
            </a:r>
            <a:r>
              <a:rPr lang="en-ID" sz="2000" dirty="0" err="1"/>
              <a:t>kunci</a:t>
            </a:r>
            <a:r>
              <a:rPr lang="en-ID" sz="2000" dirty="0"/>
              <a:t> </a:t>
            </a:r>
            <a:r>
              <a:rPr lang="en-ID" sz="2000" dirty="0" err="1"/>
              <a:t>konvensional</a:t>
            </a:r>
            <a:r>
              <a:rPr lang="en-ID" sz="2000" dirty="0"/>
              <a:t>, </a:t>
            </a:r>
            <a:r>
              <a:rPr lang="en-ID" sz="2000" dirty="0" err="1"/>
              <a:t>solusi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mampu</a:t>
            </a:r>
            <a:r>
              <a:rPr lang="en-ID" sz="2000" dirty="0"/>
              <a:t> </a:t>
            </a:r>
            <a:r>
              <a:rPr lang="en-ID" sz="2000" dirty="0" err="1"/>
              <a:t>membaca</a:t>
            </a:r>
            <a:r>
              <a:rPr lang="en-ID" sz="2000" dirty="0"/>
              <a:t> </a:t>
            </a:r>
            <a:r>
              <a:rPr lang="en-ID" sz="2000" dirty="0" err="1"/>
              <a:t>bahasa</a:t>
            </a:r>
            <a:r>
              <a:rPr lang="en-ID" sz="2000" dirty="0"/>
              <a:t> natural (</a:t>
            </a:r>
            <a:r>
              <a:rPr lang="en-ID" sz="2000" dirty="0" err="1"/>
              <a:t>sehari-hari</a:t>
            </a:r>
            <a:r>
              <a:rPr lang="en-ID" sz="2000" dirty="0"/>
              <a:t>) yang </a:t>
            </a:r>
            <a:r>
              <a:rPr lang="en-ID" sz="2000" dirty="0" err="1"/>
              <a:t>diketik</a:t>
            </a:r>
            <a:r>
              <a:rPr lang="en-ID" sz="2000" dirty="0"/>
              <a:t> oleh </a:t>
            </a:r>
            <a:r>
              <a:rPr lang="en-ID" sz="2000" dirty="0" err="1"/>
              <a:t>pengguna</a:t>
            </a:r>
            <a:r>
              <a:rPr lang="en-ID" sz="2000" dirty="0"/>
              <a:t>, </a:t>
            </a:r>
            <a:r>
              <a:rPr lang="en-ID" sz="2000" dirty="0" err="1"/>
              <a:t>mengekstraksi</a:t>
            </a:r>
            <a:r>
              <a:rPr lang="en-ID" sz="2000" dirty="0"/>
              <a:t> </a:t>
            </a:r>
            <a:r>
              <a:rPr lang="en-ID" sz="2000" dirty="0" err="1"/>
              <a:t>niat</a:t>
            </a:r>
            <a:r>
              <a:rPr lang="en-ID" sz="2000" dirty="0"/>
              <a:t> </a:t>
            </a:r>
            <a:r>
              <a:rPr lang="en-ID" sz="2000" dirty="0" err="1"/>
              <a:t>atau</a:t>
            </a:r>
            <a:r>
              <a:rPr lang="en-ID" sz="2000" dirty="0"/>
              <a:t> </a:t>
            </a:r>
            <a:r>
              <a:rPr lang="en-ID" sz="2000" i="1" dirty="0"/>
              <a:t>intent</a:t>
            </a:r>
            <a:r>
              <a:rPr lang="en-ID" sz="2000" dirty="0"/>
              <a:t> di </a:t>
            </a:r>
            <a:r>
              <a:rPr lang="en-ID" sz="2000" dirty="0" err="1"/>
              <a:t>balik</a:t>
            </a:r>
            <a:r>
              <a:rPr lang="en-ID" sz="2000" dirty="0"/>
              <a:t> </a:t>
            </a:r>
            <a:r>
              <a:rPr lang="en-ID" sz="2000" dirty="0" err="1"/>
              <a:t>kalimat</a:t>
            </a:r>
            <a:r>
              <a:rPr lang="en-ID" sz="2000" dirty="0"/>
              <a:t> </a:t>
            </a:r>
            <a:r>
              <a:rPr lang="en-ID" sz="2000" dirty="0" err="1"/>
              <a:t>tersebut</a:t>
            </a:r>
            <a:r>
              <a:rPr lang="en-ID" sz="2000" dirty="0"/>
              <a:t>, </a:t>
            </a:r>
            <a:r>
              <a:rPr lang="en-ID" sz="2000" dirty="0" err="1"/>
              <a:t>lalu</a:t>
            </a:r>
            <a:r>
              <a:rPr lang="en-ID" sz="2000" dirty="0"/>
              <a:t> </a:t>
            </a:r>
            <a:r>
              <a:rPr lang="en-ID" sz="2000" dirty="0" err="1"/>
              <a:t>mengklasifikasikannya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matematis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salah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tiga</a:t>
            </a:r>
            <a:r>
              <a:rPr lang="en-ID" sz="2000" dirty="0"/>
              <a:t> </a:t>
            </a:r>
            <a:r>
              <a:rPr lang="en-ID" sz="2000" dirty="0" err="1"/>
              <a:t>dokumen</a:t>
            </a:r>
            <a:r>
              <a:rPr lang="en-ID" sz="2000" dirty="0"/>
              <a:t> </a:t>
            </a:r>
            <a:r>
              <a:rPr lang="en-ID" sz="2000" dirty="0" err="1"/>
              <a:t>pedoman</a:t>
            </a:r>
            <a:r>
              <a:rPr lang="en-ID" sz="2000" dirty="0"/>
              <a:t> </a:t>
            </a:r>
            <a:r>
              <a:rPr lang="en-ID" sz="2000" dirty="0" err="1"/>
              <a:t>resmi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seketika</a:t>
            </a:r>
            <a:r>
              <a:rPr lang="en-ID" sz="2000" dirty="0"/>
              <a:t> (</a:t>
            </a:r>
            <a:r>
              <a:rPr lang="en-ID" sz="2000" i="1" dirty="0"/>
              <a:t>real-time</a:t>
            </a:r>
            <a:r>
              <a:rPr lang="en-ID" sz="2000" dirty="0"/>
              <a:t>). Hal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meminimalkan</a:t>
            </a:r>
            <a:r>
              <a:rPr lang="en-ID" sz="2000" dirty="0"/>
              <a:t> bias </a:t>
            </a:r>
            <a:r>
              <a:rPr lang="en-ID" sz="2000" dirty="0" err="1"/>
              <a:t>manusia</a:t>
            </a:r>
            <a:r>
              <a:rPr lang="en-ID" sz="2000" dirty="0"/>
              <a:t> dan </a:t>
            </a:r>
            <a:r>
              <a:rPr lang="en-ID" sz="2000" dirty="0" err="1"/>
              <a:t>menyajikan</a:t>
            </a:r>
            <a:r>
              <a:rPr lang="en-ID" sz="2000" dirty="0"/>
              <a:t> </a:t>
            </a:r>
            <a:r>
              <a:rPr lang="en-ID" sz="2000" dirty="0" err="1"/>
              <a:t>referensi</a:t>
            </a:r>
            <a:r>
              <a:rPr lang="en-ID" sz="2000" dirty="0"/>
              <a:t> </a:t>
            </a:r>
            <a:r>
              <a:rPr lang="en-ID" sz="2000" dirty="0" err="1"/>
              <a:t>akurat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hitungan</a:t>
            </a:r>
            <a:r>
              <a:rPr lang="en-ID" sz="2000" dirty="0"/>
              <a:t> </a:t>
            </a:r>
            <a:r>
              <a:rPr lang="en-ID" sz="2000" dirty="0" err="1"/>
              <a:t>detik</a:t>
            </a:r>
            <a:r>
              <a:rPr lang="en-ID" sz="2000" dirty="0"/>
              <a:t>.</a:t>
            </a:r>
          </a:p>
          <a:p>
            <a:pPr algn="just"/>
            <a:endParaRPr lang="en-ID" sz="1400" dirty="0"/>
          </a:p>
        </p:txBody>
      </p:sp>
    </p:spTree>
    <p:extLst>
      <p:ext uri="{BB962C8B-B14F-4D97-AF65-F5344CB8AC3E}">
        <p14:creationId xmlns:p14="http://schemas.microsoft.com/office/powerpoint/2010/main" val="3002530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45FBD-DEE6-0DFD-0D31-CAEA76A53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D47B9-84BF-BAB3-FD34-439B35D14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Metodologi</a:t>
            </a:r>
            <a:r>
              <a:rPr lang="en-ID" dirty="0"/>
              <a:t> </a:t>
            </a:r>
            <a:r>
              <a:rPr lang="en-ID" dirty="0" err="1"/>
              <a:t>Arsitektur</a:t>
            </a:r>
            <a:r>
              <a:rPr lang="en-ID" dirty="0"/>
              <a:t> </a:t>
            </a:r>
            <a:r>
              <a:rPr lang="en-ID" dirty="0" err="1"/>
              <a:t>Pemrosesan</a:t>
            </a:r>
            <a:r>
              <a:rPr lang="en-ID" dirty="0"/>
              <a:t> (Data Pipeline)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3DE0E2-9F28-97D5-4F75-E9184EFEFDA3}"/>
              </a:ext>
            </a:extLst>
          </p:cNvPr>
          <p:cNvSpPr txBox="1"/>
          <p:nvPr/>
        </p:nvSpPr>
        <p:spPr>
          <a:xfrm>
            <a:off x="1022555" y="2202427"/>
            <a:ext cx="9891251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 err="1"/>
              <a:t>Pengembangan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mengadopsi</a:t>
            </a:r>
            <a:r>
              <a:rPr lang="en-ID" sz="2000" dirty="0"/>
              <a:t> </a:t>
            </a:r>
            <a:r>
              <a:rPr lang="en-ID" sz="2000" dirty="0" err="1"/>
              <a:t>pendekatan</a:t>
            </a:r>
            <a:r>
              <a:rPr lang="en-ID" sz="2000" dirty="0"/>
              <a:t> </a:t>
            </a:r>
            <a:r>
              <a:rPr lang="en-ID" sz="2000" i="1" dirty="0"/>
              <a:t>Linear Data Science Pipeline</a:t>
            </a:r>
            <a:r>
              <a:rPr lang="en-ID" sz="2000" dirty="0"/>
              <a:t> yang </a:t>
            </a:r>
            <a:r>
              <a:rPr lang="en-ID" sz="2000" dirty="0" err="1"/>
              <a:t>terdiri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tahapan</a:t>
            </a:r>
            <a:r>
              <a:rPr lang="en-ID" sz="2000" dirty="0"/>
              <a:t> </a:t>
            </a:r>
            <a:r>
              <a:rPr lang="en-ID" sz="2000" dirty="0" err="1"/>
              <a:t>krusial</a:t>
            </a:r>
            <a:r>
              <a:rPr lang="en-ID" sz="2000" dirty="0"/>
              <a:t> </a:t>
            </a:r>
            <a:r>
              <a:rPr lang="en-ID" sz="2000" dirty="0" err="1"/>
              <a:t>berikut</a:t>
            </a:r>
            <a:r>
              <a:rPr lang="en-ID" sz="20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/>
              <a:t>Prapemrosesan</a:t>
            </a:r>
            <a:r>
              <a:rPr lang="en-ID" sz="2000" dirty="0"/>
              <a:t> Teks: Teks </a:t>
            </a:r>
            <a:r>
              <a:rPr lang="en-ID" sz="2000" dirty="0" err="1"/>
              <a:t>mentah</a:t>
            </a:r>
            <a:r>
              <a:rPr lang="en-ID" sz="2000" dirty="0"/>
              <a:t> </a:t>
            </a:r>
            <a:r>
              <a:rPr lang="en-ID" sz="2000" dirty="0" err="1"/>
              <a:t>dibersihkan</a:t>
            </a:r>
            <a:r>
              <a:rPr lang="en-ID" sz="2000" dirty="0"/>
              <a:t>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</a:t>
            </a:r>
            <a:r>
              <a:rPr lang="en-ID" sz="2000" i="1" dirty="0"/>
              <a:t>case folding</a:t>
            </a:r>
            <a:r>
              <a:rPr lang="en-ID" sz="2000" dirty="0"/>
              <a:t> (</a:t>
            </a:r>
            <a:r>
              <a:rPr lang="en-ID" sz="2000" dirty="0" err="1"/>
              <a:t>huruf</a:t>
            </a:r>
            <a:r>
              <a:rPr lang="en-ID" sz="2000" dirty="0"/>
              <a:t> </a:t>
            </a:r>
            <a:r>
              <a:rPr lang="en-ID" sz="2000" dirty="0" err="1"/>
              <a:t>kecil</a:t>
            </a:r>
            <a:r>
              <a:rPr lang="en-ID" sz="2000" dirty="0"/>
              <a:t>), </a:t>
            </a:r>
            <a:r>
              <a:rPr lang="en-ID" sz="2000" dirty="0" err="1"/>
              <a:t>penghapusan</a:t>
            </a:r>
            <a:r>
              <a:rPr lang="en-ID" sz="2000" dirty="0"/>
              <a:t> </a:t>
            </a:r>
            <a:r>
              <a:rPr lang="en-ID" sz="2000" dirty="0" err="1"/>
              <a:t>tanda</a:t>
            </a:r>
            <a:r>
              <a:rPr lang="en-ID" sz="2000" dirty="0"/>
              <a:t> </a:t>
            </a:r>
            <a:r>
              <a:rPr lang="en-ID" sz="2000" dirty="0" err="1"/>
              <a:t>baca</a:t>
            </a:r>
            <a:r>
              <a:rPr lang="en-ID" sz="2000" dirty="0"/>
              <a:t>/</a:t>
            </a:r>
            <a:r>
              <a:rPr lang="en-ID" sz="2000" dirty="0" err="1"/>
              <a:t>angka</a:t>
            </a:r>
            <a:r>
              <a:rPr lang="en-ID" sz="2000" dirty="0"/>
              <a:t> (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modul</a:t>
            </a:r>
            <a:r>
              <a:rPr lang="en-ID" sz="2000" dirty="0"/>
              <a:t> </a:t>
            </a:r>
            <a:r>
              <a:rPr lang="en-ID" sz="2000" i="1" dirty="0"/>
              <a:t>Regular Expression</a:t>
            </a:r>
            <a:r>
              <a:rPr lang="en-ID" sz="2000" dirty="0"/>
              <a:t>), dan </a:t>
            </a:r>
            <a:r>
              <a:rPr lang="en-ID" sz="2000" dirty="0" err="1"/>
              <a:t>eliminasi</a:t>
            </a:r>
            <a:r>
              <a:rPr lang="en-ID" sz="2000" dirty="0"/>
              <a:t> </a:t>
            </a:r>
            <a:r>
              <a:rPr lang="en-ID" sz="2000" i="1" dirty="0" err="1"/>
              <a:t>stopwords</a:t>
            </a:r>
            <a:r>
              <a:rPr lang="en-ID" sz="2000" dirty="0"/>
              <a:t> agar </a:t>
            </a:r>
            <a:r>
              <a:rPr lang="en-ID" sz="2000" dirty="0" err="1"/>
              <a:t>bebas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dirty="0" err="1"/>
              <a:t>residu</a:t>
            </a:r>
            <a:r>
              <a:rPr lang="en-ID" sz="2000" dirty="0"/>
              <a:t> </a:t>
            </a:r>
            <a:r>
              <a:rPr lang="en-ID" sz="2000" dirty="0" err="1"/>
              <a:t>linguistik</a:t>
            </a:r>
            <a:r>
              <a:rPr lang="en-ID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/>
              <a:t>Ekstraksi</a:t>
            </a:r>
            <a:r>
              <a:rPr lang="en-ID" sz="2000" dirty="0"/>
              <a:t> Fitur (TF-IDF): </a:t>
            </a:r>
            <a:r>
              <a:rPr lang="en-ID" sz="2000" dirty="0" err="1"/>
              <a:t>Konversi</a:t>
            </a:r>
            <a:r>
              <a:rPr lang="en-ID" sz="2000" dirty="0"/>
              <a:t> </a:t>
            </a:r>
            <a:r>
              <a:rPr lang="en-ID" sz="2000" dirty="0" err="1"/>
              <a:t>leksikal</a:t>
            </a:r>
            <a:r>
              <a:rPr lang="en-ID" sz="2000" dirty="0"/>
              <a:t> </a:t>
            </a:r>
            <a:r>
              <a:rPr lang="en-ID" sz="2000" dirty="0" err="1"/>
              <a:t>menjadi</a:t>
            </a:r>
            <a:r>
              <a:rPr lang="en-ID" sz="2000" dirty="0"/>
              <a:t> </a:t>
            </a:r>
            <a:r>
              <a:rPr lang="en-ID" sz="2000" dirty="0" err="1"/>
              <a:t>vektor</a:t>
            </a:r>
            <a:r>
              <a:rPr lang="en-ID" sz="2000" dirty="0"/>
              <a:t> </a:t>
            </a:r>
            <a:r>
              <a:rPr lang="en-ID" sz="2000" dirty="0" err="1"/>
              <a:t>numerik</a:t>
            </a:r>
            <a:r>
              <a:rPr lang="en-ID" sz="2000" dirty="0"/>
              <a:t> </a:t>
            </a:r>
            <a:r>
              <a:rPr lang="en-ID" sz="2000" dirty="0" err="1"/>
              <a:t>matematis</a:t>
            </a:r>
            <a:r>
              <a:rPr lang="en-ID" sz="2000" dirty="0"/>
              <a:t>, di mana kata-kata </a:t>
            </a:r>
            <a:r>
              <a:rPr lang="en-ID" sz="2000" dirty="0" err="1"/>
              <a:t>unik</a:t>
            </a:r>
            <a:r>
              <a:rPr lang="en-ID" sz="2000" dirty="0"/>
              <a:t> yang </a:t>
            </a:r>
            <a:r>
              <a:rPr lang="en-ID" sz="2000" dirty="0" err="1"/>
              <a:t>membedakan</a:t>
            </a:r>
            <a:r>
              <a:rPr lang="en-ID" sz="2000" dirty="0"/>
              <a:t> </a:t>
            </a:r>
            <a:r>
              <a:rPr lang="en-ID" sz="2000" dirty="0" err="1"/>
              <a:t>satu</a:t>
            </a:r>
            <a:r>
              <a:rPr lang="en-ID" sz="2000" dirty="0"/>
              <a:t> </a:t>
            </a:r>
            <a:r>
              <a:rPr lang="en-ID" sz="2000" dirty="0" err="1"/>
              <a:t>dokumen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dokumen</a:t>
            </a:r>
            <a:r>
              <a:rPr lang="en-ID" sz="2000" dirty="0"/>
              <a:t> lain </a:t>
            </a:r>
            <a:r>
              <a:rPr lang="en-ID" sz="2000" dirty="0" err="1"/>
              <a:t>diberikan</a:t>
            </a:r>
            <a:r>
              <a:rPr lang="en-ID" sz="2000" dirty="0"/>
              <a:t> </a:t>
            </a:r>
            <a:r>
              <a:rPr lang="en-ID" sz="2000" dirty="0" err="1"/>
              <a:t>bobot</a:t>
            </a:r>
            <a:r>
              <a:rPr lang="en-ID" sz="2000" dirty="0"/>
              <a:t>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tinggi</a:t>
            </a:r>
            <a:r>
              <a:rPr lang="en-ID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/>
              <a:t>Pelatihan</a:t>
            </a:r>
            <a:r>
              <a:rPr lang="en-ID" sz="2000" dirty="0"/>
              <a:t> Model (</a:t>
            </a:r>
            <a:r>
              <a:rPr lang="en-ID" sz="2000" dirty="0" err="1"/>
              <a:t>XGBoost</a:t>
            </a:r>
            <a:r>
              <a:rPr lang="en-ID" sz="2000" dirty="0"/>
              <a:t>): </a:t>
            </a:r>
            <a:r>
              <a:rPr lang="en-ID" sz="2000" dirty="0" err="1"/>
              <a:t>Algoritma</a:t>
            </a:r>
            <a:r>
              <a:rPr lang="en-ID" sz="2000" dirty="0"/>
              <a:t> </a:t>
            </a:r>
            <a:r>
              <a:rPr lang="en-ID" sz="2000" i="1" dirty="0" err="1"/>
              <a:t>eXtreme</a:t>
            </a:r>
            <a:r>
              <a:rPr lang="en-ID" sz="2000" i="1" dirty="0"/>
              <a:t> Gradient Boosting</a:t>
            </a:r>
            <a:r>
              <a:rPr lang="en-ID" sz="2000" dirty="0"/>
              <a:t> </a:t>
            </a:r>
            <a:r>
              <a:rPr lang="en-ID" sz="2000" dirty="0" err="1"/>
              <a:t>digunakan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memetakan</a:t>
            </a:r>
            <a:r>
              <a:rPr lang="en-ID" sz="2000" dirty="0"/>
              <a:t> </a:t>
            </a:r>
            <a:r>
              <a:rPr lang="en-ID" sz="2000" dirty="0" err="1"/>
              <a:t>korelasi</a:t>
            </a:r>
            <a:r>
              <a:rPr lang="en-ID" sz="2000" dirty="0"/>
              <a:t> </a:t>
            </a:r>
            <a:r>
              <a:rPr lang="en-ID" sz="2000" dirty="0" err="1"/>
              <a:t>antara</a:t>
            </a:r>
            <a:r>
              <a:rPr lang="en-ID" sz="2000" dirty="0"/>
              <a:t> </a:t>
            </a:r>
            <a:r>
              <a:rPr lang="en-ID" sz="2000" dirty="0" err="1"/>
              <a:t>vektor</a:t>
            </a:r>
            <a:r>
              <a:rPr lang="en-ID" sz="2000" dirty="0"/>
              <a:t> </a:t>
            </a:r>
            <a:r>
              <a:rPr lang="en-ID" sz="2000" dirty="0" err="1"/>
              <a:t>teks</a:t>
            </a:r>
            <a:r>
              <a:rPr lang="en-ID" sz="2000" dirty="0"/>
              <a:t> dan label </a:t>
            </a:r>
            <a:r>
              <a:rPr lang="en-ID" sz="2000" dirty="0" err="1"/>
              <a:t>dokumen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dirty="0" err="1"/>
              <a:t>metode</a:t>
            </a:r>
            <a:r>
              <a:rPr lang="en-ID" sz="2000" dirty="0"/>
              <a:t> </a:t>
            </a:r>
            <a:r>
              <a:rPr lang="en-ID" sz="2000" dirty="0" err="1"/>
              <a:t>pohon</a:t>
            </a:r>
            <a:r>
              <a:rPr lang="en-ID" sz="2000" dirty="0"/>
              <a:t> </a:t>
            </a:r>
            <a:r>
              <a:rPr lang="en-ID" sz="2000" dirty="0" err="1"/>
              <a:t>keputusan</a:t>
            </a:r>
            <a:r>
              <a:rPr lang="en-ID" sz="2000" dirty="0"/>
              <a:t> </a:t>
            </a:r>
            <a:r>
              <a:rPr lang="en-ID" sz="2000" dirty="0" err="1"/>
              <a:t>adaptif</a:t>
            </a:r>
            <a:r>
              <a:rPr lang="en-ID" sz="2000" dirty="0"/>
              <a:t>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/>
              <a:t>Interpretasi</a:t>
            </a:r>
            <a:r>
              <a:rPr lang="en-ID" sz="2000" dirty="0"/>
              <a:t> (</a:t>
            </a:r>
            <a:r>
              <a:rPr lang="en-ID" sz="2000" i="1" dirty="0"/>
              <a:t>Explainable AI</a:t>
            </a:r>
            <a:r>
              <a:rPr lang="en-ID" sz="2000" dirty="0"/>
              <a:t>): </a:t>
            </a:r>
            <a:r>
              <a:rPr lang="en-ID" sz="2000" dirty="0" err="1"/>
              <a:t>Penerapan</a:t>
            </a:r>
            <a:r>
              <a:rPr lang="en-ID" sz="2000" dirty="0"/>
              <a:t> LIME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memastikan</a:t>
            </a:r>
            <a:r>
              <a:rPr lang="en-ID" sz="2000" dirty="0"/>
              <a:t> </a:t>
            </a:r>
            <a:r>
              <a:rPr lang="en-ID" sz="2000" dirty="0" err="1"/>
              <a:t>pengambilan</a:t>
            </a:r>
            <a:r>
              <a:rPr lang="en-ID" sz="2000" dirty="0"/>
              <a:t> </a:t>
            </a:r>
            <a:r>
              <a:rPr lang="en-ID" sz="2000" dirty="0" err="1"/>
              <a:t>keputusan</a:t>
            </a:r>
            <a:r>
              <a:rPr lang="en-ID" sz="2000" dirty="0"/>
              <a:t> </a:t>
            </a:r>
            <a:r>
              <a:rPr lang="en-ID" sz="2000" dirty="0" err="1"/>
              <a:t>algoritma</a:t>
            </a:r>
            <a:r>
              <a:rPr lang="en-ID" sz="2000" dirty="0"/>
              <a:t>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dijelaskan</a:t>
            </a:r>
            <a:r>
              <a:rPr lang="en-ID" sz="2000" dirty="0"/>
              <a:t> dan </a:t>
            </a:r>
            <a:r>
              <a:rPr lang="en-ID" sz="2000" dirty="0" err="1"/>
              <a:t>dipertanggungjawabkan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logis</a:t>
            </a:r>
            <a:r>
              <a:rPr lang="en-ID" sz="2000" dirty="0"/>
              <a:t>.</a:t>
            </a:r>
          </a:p>
          <a:p>
            <a:pPr algn="just"/>
            <a:endParaRPr lang="en-ID" sz="3600" dirty="0"/>
          </a:p>
        </p:txBody>
      </p:sp>
    </p:spTree>
    <p:extLst>
      <p:ext uri="{BB962C8B-B14F-4D97-AF65-F5344CB8AC3E}">
        <p14:creationId xmlns:p14="http://schemas.microsoft.com/office/powerpoint/2010/main" val="34049891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090C5E-E239-78B3-D4C9-E2238E6DC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87F1B-A51B-0E9D-20C8-7C01B1E4E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D" dirty="0" err="1"/>
              <a:t>Eksplorasi</a:t>
            </a:r>
            <a:r>
              <a:rPr lang="en-ID" dirty="0"/>
              <a:t> Data </a:t>
            </a:r>
            <a:r>
              <a:rPr lang="en-ID" dirty="0" err="1"/>
              <a:t>Analisis</a:t>
            </a:r>
            <a:r>
              <a:rPr lang="en-ID" dirty="0"/>
              <a:t>: </a:t>
            </a:r>
            <a:r>
              <a:rPr lang="en-ID" dirty="0" err="1"/>
              <a:t>Keseimbangan</a:t>
            </a:r>
            <a:r>
              <a:rPr lang="en-ID" dirty="0"/>
              <a:t> </a:t>
            </a:r>
            <a:r>
              <a:rPr lang="en-ID" dirty="0" err="1"/>
              <a:t>Distribusi</a:t>
            </a:r>
            <a:r>
              <a:rPr lang="en-ID" dirty="0"/>
              <a:t> </a:t>
            </a:r>
            <a:r>
              <a:rPr lang="en-ID" dirty="0" err="1"/>
              <a:t>Kelas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6CEC23-EBB5-90ED-7E2B-28DE91F67BC1}"/>
              </a:ext>
            </a:extLst>
          </p:cNvPr>
          <p:cNvSpPr txBox="1"/>
          <p:nvPr/>
        </p:nvSpPr>
        <p:spPr>
          <a:xfrm>
            <a:off x="5565057" y="2084439"/>
            <a:ext cx="6223819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000" dirty="0" err="1"/>
              <a:t>Berdasarkan</a:t>
            </a:r>
            <a:r>
              <a:rPr lang="en-ID" sz="2000" dirty="0"/>
              <a:t> </a:t>
            </a:r>
            <a:r>
              <a:rPr lang="en-ID" sz="2000" dirty="0" err="1"/>
              <a:t>visualisasi</a:t>
            </a:r>
            <a:r>
              <a:rPr lang="en-ID" sz="2000" dirty="0"/>
              <a:t> histogram pada </a:t>
            </a:r>
            <a:r>
              <a:rPr lang="en-ID" sz="2000" dirty="0" err="1"/>
              <a:t>gambar</a:t>
            </a:r>
            <a:r>
              <a:rPr lang="en-ID" sz="2000" dirty="0"/>
              <a:t> di </a:t>
            </a:r>
            <a:r>
              <a:rPr lang="en-ID" sz="2000" dirty="0" err="1"/>
              <a:t>samping</a:t>
            </a:r>
            <a:r>
              <a:rPr lang="en-ID" sz="2000" dirty="0"/>
              <a:t>,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dipastikan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dataset </a:t>
            </a:r>
            <a:r>
              <a:rPr lang="en-ID" sz="2000" dirty="0" err="1"/>
              <a:t>historis</a:t>
            </a:r>
            <a:r>
              <a:rPr lang="en-ID" sz="2000" dirty="0"/>
              <a:t> yang </a:t>
            </a:r>
            <a:r>
              <a:rPr lang="en-ID" sz="2000" dirty="0" err="1"/>
              <a:t>digunakan</a:t>
            </a:r>
            <a:r>
              <a:rPr lang="en-ID" sz="2000" dirty="0"/>
              <a:t>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proporsi</a:t>
            </a:r>
            <a:r>
              <a:rPr lang="en-ID" sz="2000" dirty="0"/>
              <a:t> yang sangat </a:t>
            </a:r>
            <a:r>
              <a:rPr lang="en-ID" sz="2000" dirty="0" err="1"/>
              <a:t>seimbang</a:t>
            </a:r>
            <a:r>
              <a:rPr lang="en-ID" sz="2000" dirty="0"/>
              <a:t> (</a:t>
            </a:r>
            <a:r>
              <a:rPr lang="en-ID" sz="2000" i="1" dirty="0"/>
              <a:t>perfectly balanced dataset</a:t>
            </a:r>
            <a:r>
              <a:rPr lang="en-ID" sz="2000" dirty="0"/>
              <a:t>). Tiga </a:t>
            </a:r>
            <a:r>
              <a:rPr lang="en-ID" sz="2000" dirty="0" err="1"/>
              <a:t>kelas</a:t>
            </a:r>
            <a:r>
              <a:rPr lang="en-ID" sz="2000" dirty="0"/>
              <a:t> yang </a:t>
            </a:r>
            <a:r>
              <a:rPr lang="en-ID" sz="2000" dirty="0" err="1"/>
              <a:t>menjadi</a:t>
            </a:r>
            <a:r>
              <a:rPr lang="en-ID" sz="2000" dirty="0"/>
              <a:t> target </a:t>
            </a:r>
            <a:r>
              <a:rPr lang="en-ID" sz="2000" dirty="0" err="1"/>
              <a:t>prediksi</a:t>
            </a:r>
            <a:r>
              <a:rPr lang="en-ID" sz="2000" dirty="0"/>
              <a:t>—</a:t>
            </a:r>
            <a:r>
              <a:rPr lang="en-ID" sz="2000" dirty="0" err="1"/>
              <a:t>yaitu</a:t>
            </a:r>
            <a:r>
              <a:rPr lang="en-ID" sz="2000" dirty="0"/>
              <a:t> </a:t>
            </a:r>
            <a:r>
              <a:rPr lang="en-ID" sz="2000" dirty="0" err="1"/>
              <a:t>Tata_Tertib_Kedisiplinan</a:t>
            </a:r>
            <a:r>
              <a:rPr lang="en-ID" sz="2000" dirty="0"/>
              <a:t>, </a:t>
            </a:r>
            <a:r>
              <a:rPr lang="en-ID" sz="2000" dirty="0" err="1"/>
              <a:t>Kurikulum_Akademik</a:t>
            </a:r>
            <a:r>
              <a:rPr lang="en-ID" sz="2000" dirty="0"/>
              <a:t>, dan </a:t>
            </a:r>
            <a:r>
              <a:rPr lang="en-ID" sz="2000" dirty="0" err="1"/>
              <a:t>Pedoman_Tugas_Akhir</a:t>
            </a:r>
            <a:r>
              <a:rPr lang="en-ID" sz="2000" dirty="0"/>
              <a:t>—masing-masing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kuantitas</a:t>
            </a:r>
            <a:r>
              <a:rPr lang="en-ID" sz="2000" dirty="0"/>
              <a:t> data </a:t>
            </a:r>
            <a:r>
              <a:rPr lang="en-ID" sz="2000" dirty="0" err="1"/>
              <a:t>latih</a:t>
            </a:r>
            <a:r>
              <a:rPr lang="en-ID" sz="2000" dirty="0"/>
              <a:t> </a:t>
            </a:r>
            <a:r>
              <a:rPr lang="en-ID" sz="2000" dirty="0" err="1"/>
              <a:t>sebanyak</a:t>
            </a:r>
            <a:r>
              <a:rPr lang="en-ID" sz="2000" dirty="0"/>
              <a:t> 50 </a:t>
            </a:r>
            <a:r>
              <a:rPr lang="en-ID" sz="2000" dirty="0" err="1"/>
              <a:t>observasi</a:t>
            </a:r>
            <a:r>
              <a:rPr lang="en-ID" sz="2000" dirty="0"/>
              <a:t>, </a:t>
            </a:r>
            <a:r>
              <a:rPr lang="en-ID" sz="2000" dirty="0" err="1"/>
              <a:t>sehingga</a:t>
            </a:r>
            <a:r>
              <a:rPr lang="en-ID" sz="2000" dirty="0"/>
              <a:t> total </a:t>
            </a:r>
            <a:r>
              <a:rPr lang="en-ID" sz="2000" dirty="0" err="1"/>
              <a:t>sampel</a:t>
            </a:r>
            <a:r>
              <a:rPr lang="en-ID" sz="2000" dirty="0"/>
              <a:t> </a:t>
            </a:r>
            <a:r>
              <a:rPr lang="en-ID" sz="2000" dirty="0" err="1"/>
              <a:t>mencapai</a:t>
            </a:r>
            <a:r>
              <a:rPr lang="en-ID" sz="2000" dirty="0"/>
              <a:t> 150. </a:t>
            </a:r>
            <a:r>
              <a:rPr lang="en-ID" sz="2000" dirty="0" err="1"/>
              <a:t>Keseimbangan</a:t>
            </a:r>
            <a:r>
              <a:rPr lang="en-ID" sz="2000" dirty="0"/>
              <a:t> </a:t>
            </a:r>
            <a:r>
              <a:rPr lang="en-ID" sz="2000" dirty="0" err="1"/>
              <a:t>distribusi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memberikan</a:t>
            </a:r>
            <a:r>
              <a:rPr lang="en-ID" sz="2000" dirty="0"/>
              <a:t> </a:t>
            </a:r>
            <a:r>
              <a:rPr lang="en-ID" sz="2000" dirty="0" err="1"/>
              <a:t>justifikasi</a:t>
            </a:r>
            <a:r>
              <a:rPr lang="en-ID" sz="2000" dirty="0"/>
              <a:t> </a:t>
            </a:r>
            <a:r>
              <a:rPr lang="en-ID" sz="2000" dirty="0" err="1"/>
              <a:t>analitis</a:t>
            </a:r>
            <a:r>
              <a:rPr lang="en-ID" sz="2000" dirty="0"/>
              <a:t> yang vital, </a:t>
            </a:r>
            <a:r>
              <a:rPr lang="en-ID" sz="2000" dirty="0" err="1"/>
              <a:t>karena</a:t>
            </a:r>
            <a:r>
              <a:rPr lang="en-ID" sz="2000" dirty="0"/>
              <a:t> model </a:t>
            </a:r>
            <a:r>
              <a:rPr lang="en-ID" sz="2000" dirty="0" err="1"/>
              <a:t>klasifikasi</a:t>
            </a:r>
            <a:r>
              <a:rPr lang="en-ID" sz="2000" dirty="0"/>
              <a:t> </a:t>
            </a:r>
            <a:r>
              <a:rPr lang="en-ID" sz="2000" dirty="0" err="1"/>
              <a:t>akan</a:t>
            </a:r>
            <a:r>
              <a:rPr lang="en-ID" sz="2000" dirty="0"/>
              <a:t> </a:t>
            </a:r>
            <a:r>
              <a:rPr lang="en-ID" sz="2000" dirty="0" err="1"/>
              <a:t>terhindar</a:t>
            </a:r>
            <a:r>
              <a:rPr lang="en-ID" sz="2000" dirty="0"/>
              <a:t> </a:t>
            </a:r>
            <a:r>
              <a:rPr lang="en-ID" sz="2000" dirty="0" err="1"/>
              <a:t>dari</a:t>
            </a:r>
            <a:r>
              <a:rPr lang="en-ID" sz="2000" dirty="0"/>
              <a:t> </a:t>
            </a:r>
            <a:r>
              <a:rPr lang="en-ID" sz="2000" i="1" dirty="0"/>
              <a:t>Majority Class Bias</a:t>
            </a:r>
            <a:r>
              <a:rPr lang="en-ID" sz="2000" dirty="0"/>
              <a:t>, </a:t>
            </a:r>
            <a:r>
              <a:rPr lang="en-ID" sz="2000" dirty="0" err="1"/>
              <a:t>yakni</a:t>
            </a:r>
            <a:r>
              <a:rPr lang="en-ID" sz="2000" dirty="0"/>
              <a:t> </a:t>
            </a:r>
            <a:r>
              <a:rPr lang="en-ID" sz="2000" dirty="0" err="1"/>
              <a:t>kecenderungan</a:t>
            </a:r>
            <a:r>
              <a:rPr lang="en-ID" sz="2000" dirty="0"/>
              <a:t> model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menebak</a:t>
            </a:r>
            <a:r>
              <a:rPr lang="en-ID" sz="2000" dirty="0"/>
              <a:t> </a:t>
            </a:r>
            <a:r>
              <a:rPr lang="en-ID" sz="2000" dirty="0" err="1"/>
              <a:t>kelas</a:t>
            </a:r>
            <a:r>
              <a:rPr lang="en-ID" sz="2000" dirty="0"/>
              <a:t> yang paling </a:t>
            </a:r>
            <a:r>
              <a:rPr lang="en-ID" sz="2000" dirty="0" err="1"/>
              <a:t>banyak</a:t>
            </a:r>
            <a:r>
              <a:rPr lang="en-ID" sz="2000" dirty="0"/>
              <a:t> </a:t>
            </a:r>
            <a:r>
              <a:rPr lang="en-ID" sz="2000" dirty="0" err="1"/>
              <a:t>muncul</a:t>
            </a:r>
            <a:r>
              <a:rPr lang="en-ID" sz="2000" dirty="0"/>
              <a:t>. </a:t>
            </a:r>
            <a:r>
              <a:rPr lang="en-ID" sz="2000" dirty="0" err="1"/>
              <a:t>Dengan</a:t>
            </a:r>
            <a:r>
              <a:rPr lang="en-ID" sz="2000" dirty="0"/>
              <a:t> data yang </a:t>
            </a:r>
            <a:r>
              <a:rPr lang="en-ID" sz="2000" dirty="0" err="1"/>
              <a:t>merata</a:t>
            </a:r>
            <a:r>
              <a:rPr lang="en-ID" sz="2000" dirty="0"/>
              <a:t>, </a:t>
            </a:r>
            <a:r>
              <a:rPr lang="en-ID" sz="2000" dirty="0" err="1"/>
              <a:t>algoritma</a:t>
            </a:r>
            <a:r>
              <a:rPr lang="en-ID" sz="2000" dirty="0"/>
              <a:t> </a:t>
            </a:r>
            <a:r>
              <a:rPr lang="en-ID" sz="2000" dirty="0" err="1"/>
              <a:t>dipaksa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mempelajari</a:t>
            </a:r>
            <a:r>
              <a:rPr lang="en-ID" sz="2000" dirty="0"/>
              <a:t> </a:t>
            </a:r>
            <a:r>
              <a:rPr lang="en-ID" sz="2000" dirty="0" err="1"/>
              <a:t>pola</a:t>
            </a:r>
            <a:r>
              <a:rPr lang="en-ID" sz="2000" dirty="0"/>
              <a:t> masing-masing </a:t>
            </a:r>
            <a:r>
              <a:rPr lang="en-ID" sz="2000" dirty="0" err="1"/>
              <a:t>kategori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adil</a:t>
            </a:r>
            <a:r>
              <a:rPr lang="en-ID" sz="2000" dirty="0"/>
              <a:t> dan </a:t>
            </a:r>
            <a:r>
              <a:rPr lang="en-ID" sz="2000" dirty="0" err="1"/>
              <a:t>objektif</a:t>
            </a:r>
            <a:r>
              <a:rPr lang="en-ID" sz="20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058968-7C57-06C9-3820-C24625B593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4" y="2192594"/>
            <a:ext cx="5547213" cy="429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206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E6B2D-E2AB-C3DA-637C-7103CB1FF1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327B0B-E3D7-2B7D-97E0-125098749A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Analisis</a:t>
            </a:r>
            <a:r>
              <a:rPr lang="en-ID" dirty="0"/>
              <a:t> </a:t>
            </a:r>
            <a:r>
              <a:rPr lang="en-ID" dirty="0" err="1"/>
              <a:t>Frekuensi</a:t>
            </a:r>
            <a:r>
              <a:rPr lang="en-ID" dirty="0"/>
              <a:t> Kata dan </a:t>
            </a:r>
            <a:r>
              <a:rPr lang="en-ID" dirty="0" err="1"/>
              <a:t>Kualitas</a:t>
            </a:r>
            <a:r>
              <a:rPr lang="en-ID" dirty="0"/>
              <a:t> Fitur Teks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DB5934-FC5A-BF9B-BE9E-D297CD56BDB5}"/>
              </a:ext>
            </a:extLst>
          </p:cNvPr>
          <p:cNvSpPr txBox="1"/>
          <p:nvPr/>
        </p:nvSpPr>
        <p:spPr>
          <a:xfrm>
            <a:off x="5565057" y="2084439"/>
            <a:ext cx="6223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000" dirty="0" err="1"/>
              <a:t>Analisis</a:t>
            </a:r>
            <a:r>
              <a:rPr lang="en-ID" sz="2000" dirty="0"/>
              <a:t> </a:t>
            </a:r>
            <a:r>
              <a:rPr lang="en-ID" sz="2000" dirty="0" err="1"/>
              <a:t>frekuensi</a:t>
            </a:r>
            <a:r>
              <a:rPr lang="en-ID" sz="2000" dirty="0"/>
              <a:t> </a:t>
            </a:r>
            <a:r>
              <a:rPr lang="en-ID" sz="2000" dirty="0" err="1"/>
              <a:t>mikro</a:t>
            </a:r>
            <a:r>
              <a:rPr lang="en-ID" sz="2000" dirty="0"/>
              <a:t> (</a:t>
            </a:r>
            <a:r>
              <a:rPr lang="en-ID" sz="2000" i="1" dirty="0"/>
              <a:t>Term Frequency</a:t>
            </a:r>
            <a:r>
              <a:rPr lang="en-ID" sz="2000" dirty="0"/>
              <a:t>) </a:t>
            </a:r>
            <a:r>
              <a:rPr lang="en-ID" sz="2000" dirty="0" err="1"/>
              <a:t>pasca-prapemrosesan</a:t>
            </a:r>
            <a:r>
              <a:rPr lang="en-ID" sz="2000" dirty="0"/>
              <a:t> </a:t>
            </a:r>
            <a:r>
              <a:rPr lang="en-ID" sz="2000" dirty="0" err="1"/>
              <a:t>membuktikan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ID" sz="2000" i="1" dirty="0"/>
              <a:t>pipeline</a:t>
            </a:r>
            <a:r>
              <a:rPr lang="en-ID" sz="2000" dirty="0"/>
              <a:t> </a:t>
            </a:r>
            <a:r>
              <a:rPr lang="en-ID" sz="2000" dirty="0" err="1"/>
              <a:t>pembersihan</a:t>
            </a:r>
            <a:r>
              <a:rPr lang="en-ID" sz="2000" dirty="0"/>
              <a:t> data </a:t>
            </a:r>
            <a:r>
              <a:rPr lang="en-ID" sz="2000" dirty="0" err="1"/>
              <a:t>telah</a:t>
            </a:r>
            <a:r>
              <a:rPr lang="en-ID" sz="2000" dirty="0"/>
              <a:t> </a:t>
            </a:r>
            <a:r>
              <a:rPr lang="en-ID" sz="2000" dirty="0" err="1"/>
              <a:t>beroperasi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optimal. Pada </a:t>
            </a:r>
            <a:r>
              <a:rPr lang="en-ID" sz="2000" dirty="0" err="1"/>
              <a:t>grafik</a:t>
            </a:r>
            <a:r>
              <a:rPr lang="en-ID" sz="2000" dirty="0"/>
              <a:t> </a:t>
            </a:r>
            <a:r>
              <a:rPr lang="en-ID" sz="2000" dirty="0" err="1"/>
              <a:t>kemunculan</a:t>
            </a:r>
            <a:r>
              <a:rPr lang="en-ID" sz="2000" dirty="0"/>
              <a:t> kata </a:t>
            </a:r>
            <a:r>
              <a:rPr lang="en-ID" sz="2000" dirty="0" err="1"/>
              <a:t>teratas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kategori</a:t>
            </a:r>
            <a:r>
              <a:rPr lang="en-ID" sz="2000" dirty="0"/>
              <a:t> Tata </a:t>
            </a:r>
            <a:r>
              <a:rPr lang="en-ID" sz="2000" dirty="0" err="1"/>
              <a:t>Tertib</a:t>
            </a:r>
            <a:r>
              <a:rPr lang="en-ID" sz="2000" dirty="0"/>
              <a:t>, </a:t>
            </a:r>
            <a:r>
              <a:rPr lang="en-ID" sz="2000" dirty="0" err="1"/>
              <a:t>terlihat</a:t>
            </a:r>
            <a:r>
              <a:rPr lang="en-ID" sz="2000" dirty="0"/>
              <a:t> </a:t>
            </a:r>
            <a:r>
              <a:rPr lang="en-ID" sz="2000" dirty="0" err="1"/>
              <a:t>jelas</a:t>
            </a:r>
            <a:r>
              <a:rPr lang="en-ID" sz="2000" dirty="0"/>
              <a:t> model </a:t>
            </a:r>
            <a:r>
              <a:rPr lang="en-ID" sz="2000" dirty="0" err="1"/>
              <a:t>mampu</a:t>
            </a:r>
            <a:r>
              <a:rPr lang="en-ID" sz="2000" dirty="0"/>
              <a:t> </a:t>
            </a:r>
            <a:r>
              <a:rPr lang="en-ID" sz="2000" dirty="0" err="1"/>
              <a:t>mengekstraksi</a:t>
            </a:r>
            <a:r>
              <a:rPr lang="en-ID" sz="2000" dirty="0"/>
              <a:t> kata </a:t>
            </a:r>
            <a:r>
              <a:rPr lang="en-ID" sz="2000" dirty="0" err="1"/>
              <a:t>benda</a:t>
            </a:r>
            <a:r>
              <a:rPr lang="en-ID" sz="2000" dirty="0"/>
              <a:t> </a:t>
            </a:r>
            <a:r>
              <a:rPr lang="en-ID" sz="2000" dirty="0" err="1"/>
              <a:t>khusus</a:t>
            </a:r>
            <a:r>
              <a:rPr lang="en-ID" sz="2000" dirty="0"/>
              <a:t> (</a:t>
            </a:r>
            <a:r>
              <a:rPr lang="en-ID" sz="2000" i="1" dirty="0"/>
              <a:t>proper nouns</a:t>
            </a:r>
            <a:r>
              <a:rPr lang="en-ID" sz="2000" dirty="0"/>
              <a:t>) yang </a:t>
            </a:r>
            <a:r>
              <a:rPr lang="en-ID" sz="2000" dirty="0" err="1"/>
              <a:t>memiliki</a:t>
            </a:r>
            <a:r>
              <a:rPr lang="en-ID" sz="2000" dirty="0"/>
              <a:t> </a:t>
            </a:r>
            <a:r>
              <a:rPr lang="en-ID" sz="2000" dirty="0" err="1"/>
              <a:t>signifikansi</a:t>
            </a:r>
            <a:r>
              <a:rPr lang="en-ID" sz="2000" dirty="0"/>
              <a:t> </a:t>
            </a:r>
            <a:r>
              <a:rPr lang="en-ID" sz="2000" dirty="0" err="1"/>
              <a:t>semantik</a:t>
            </a:r>
            <a:r>
              <a:rPr lang="en-ID" sz="2000" dirty="0"/>
              <a:t> </a:t>
            </a:r>
            <a:r>
              <a:rPr lang="en-ID" sz="2000" dirty="0" err="1"/>
              <a:t>tinggi</a:t>
            </a:r>
            <a:r>
              <a:rPr lang="en-ID" sz="2000" dirty="0"/>
              <a:t>. </a:t>
            </a:r>
            <a:r>
              <a:rPr lang="en-ID" sz="2000" dirty="0" err="1"/>
              <a:t>Kehadiran</a:t>
            </a:r>
            <a:r>
              <a:rPr lang="en-ID" sz="2000" dirty="0"/>
              <a:t> kata-kata </a:t>
            </a:r>
            <a:r>
              <a:rPr lang="en-ID" sz="2000" dirty="0" err="1"/>
              <a:t>dominan</a:t>
            </a:r>
            <a:r>
              <a:rPr lang="en-ID" sz="2000" dirty="0"/>
              <a:t> </a:t>
            </a:r>
            <a:r>
              <a:rPr lang="en-ID" sz="2000" dirty="0" err="1"/>
              <a:t>seperti</a:t>
            </a:r>
            <a:r>
              <a:rPr lang="en-ID" sz="2000" dirty="0"/>
              <a:t> "</a:t>
            </a:r>
            <a:r>
              <a:rPr lang="en-ID" sz="2000" dirty="0" err="1"/>
              <a:t>taruna</a:t>
            </a:r>
            <a:r>
              <a:rPr lang="en-ID" sz="2000" dirty="0"/>
              <a:t>", "</a:t>
            </a:r>
            <a:r>
              <a:rPr lang="en-ID" sz="2000" dirty="0" err="1"/>
              <a:t>kampus</a:t>
            </a:r>
            <a:r>
              <a:rPr lang="en-ID" sz="2000" dirty="0"/>
              <a:t>", "jam", dan "</a:t>
            </a:r>
            <a:r>
              <a:rPr lang="en-ID" sz="2000" dirty="0" err="1"/>
              <a:t>saat</a:t>
            </a:r>
            <a:r>
              <a:rPr lang="en-ID" sz="2000" dirty="0"/>
              <a:t>" </a:t>
            </a:r>
            <a:r>
              <a:rPr lang="en-ID" sz="2000" dirty="0" err="1"/>
              <a:t>merepresentasikan</a:t>
            </a:r>
            <a:r>
              <a:rPr lang="en-ID" sz="2000" dirty="0"/>
              <a:t> </a:t>
            </a:r>
            <a:r>
              <a:rPr lang="en-ID" sz="2000" dirty="0" err="1"/>
              <a:t>korelasi</a:t>
            </a:r>
            <a:r>
              <a:rPr lang="en-ID" sz="2000" dirty="0"/>
              <a:t> </a:t>
            </a:r>
            <a:r>
              <a:rPr lang="en-ID" sz="2000" dirty="0" err="1"/>
              <a:t>langsung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isu</a:t>
            </a:r>
            <a:r>
              <a:rPr lang="en-ID" sz="2000" dirty="0"/>
              <a:t> </a:t>
            </a:r>
            <a:r>
              <a:rPr lang="en-ID" sz="2000" dirty="0" err="1"/>
              <a:t>kedisiplinan</a:t>
            </a:r>
            <a:r>
              <a:rPr lang="en-ID" sz="2000" dirty="0"/>
              <a:t> dan </a:t>
            </a:r>
            <a:r>
              <a:rPr lang="en-ID" sz="2000" dirty="0" err="1"/>
              <a:t>regulasi</a:t>
            </a:r>
            <a:r>
              <a:rPr lang="en-ID" sz="2000" dirty="0"/>
              <a:t> </a:t>
            </a:r>
            <a:r>
              <a:rPr lang="en-ID" sz="2000" dirty="0" err="1"/>
              <a:t>operasional</a:t>
            </a:r>
            <a:r>
              <a:rPr lang="en-ID" sz="2000" dirty="0"/>
              <a:t>. Dari </a:t>
            </a:r>
            <a:r>
              <a:rPr lang="en-ID" sz="2000" i="1" dirty="0"/>
              <a:t>insight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, </a:t>
            </a:r>
            <a:r>
              <a:rPr lang="en-ID" sz="2000" dirty="0" err="1"/>
              <a:t>dapat</a:t>
            </a:r>
            <a:r>
              <a:rPr lang="en-ID" sz="2000" dirty="0"/>
              <a:t> </a:t>
            </a:r>
            <a:r>
              <a:rPr lang="en-ID" sz="2000" dirty="0" err="1"/>
              <a:t>dipastikan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ID" sz="2000" i="1" dirty="0"/>
              <a:t>noise</a:t>
            </a:r>
            <a:r>
              <a:rPr lang="en-ID" sz="2000" dirty="0"/>
              <a:t> (kata </a:t>
            </a:r>
            <a:r>
              <a:rPr lang="en-ID" sz="2000" dirty="0" err="1"/>
              <a:t>hubung</a:t>
            </a:r>
            <a:r>
              <a:rPr lang="en-ID" sz="2000" dirty="0"/>
              <a:t> yang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relevan</a:t>
            </a:r>
            <a:r>
              <a:rPr lang="en-ID" sz="2000" dirty="0"/>
              <a:t>) </a:t>
            </a:r>
            <a:r>
              <a:rPr lang="en-ID" sz="2000" dirty="0" err="1"/>
              <a:t>telah</a:t>
            </a:r>
            <a:r>
              <a:rPr lang="en-ID" sz="2000" dirty="0"/>
              <a:t> </a:t>
            </a:r>
            <a:r>
              <a:rPr lang="en-ID" sz="2000" dirty="0" err="1"/>
              <a:t>berhasil</a:t>
            </a:r>
            <a:r>
              <a:rPr lang="en-ID" sz="2000" dirty="0"/>
              <a:t> </a:t>
            </a:r>
            <a:r>
              <a:rPr lang="en-ID" sz="2000" dirty="0" err="1"/>
              <a:t>direduksi</a:t>
            </a:r>
            <a:r>
              <a:rPr lang="en-ID" sz="2000" dirty="0"/>
              <a:t>, </a:t>
            </a:r>
            <a:r>
              <a:rPr lang="en-ID" sz="2000" dirty="0" err="1"/>
              <a:t>menyisakan</a:t>
            </a:r>
            <a:r>
              <a:rPr lang="en-ID" sz="2000" dirty="0"/>
              <a:t> </a:t>
            </a:r>
            <a:r>
              <a:rPr lang="en-ID" sz="2000" dirty="0" err="1"/>
              <a:t>fitur-fitur</a:t>
            </a:r>
            <a:r>
              <a:rPr lang="en-ID" sz="2000" dirty="0"/>
              <a:t> </a:t>
            </a:r>
            <a:r>
              <a:rPr lang="en-ID" sz="2000" dirty="0" err="1"/>
              <a:t>linguistik</a:t>
            </a:r>
            <a:r>
              <a:rPr lang="en-ID" sz="2000" dirty="0"/>
              <a:t> </a:t>
            </a:r>
            <a:r>
              <a:rPr lang="en-ID" sz="2000" dirty="0" err="1"/>
              <a:t>berkualitas</a:t>
            </a:r>
            <a:r>
              <a:rPr lang="en-ID" sz="2000" dirty="0"/>
              <a:t> </a:t>
            </a:r>
            <a:r>
              <a:rPr lang="en-ID" sz="2000" dirty="0" err="1"/>
              <a:t>tinggi</a:t>
            </a:r>
            <a:r>
              <a:rPr lang="en-ID" sz="2000" dirty="0"/>
              <a:t> yang </a:t>
            </a:r>
            <a:r>
              <a:rPr lang="en-ID" sz="2000" dirty="0" err="1"/>
              <a:t>siap</a:t>
            </a:r>
            <a:r>
              <a:rPr lang="en-ID" sz="2000" dirty="0"/>
              <a:t> </a:t>
            </a:r>
            <a:r>
              <a:rPr lang="en-ID" sz="2000" dirty="0" err="1"/>
              <a:t>diproyeksikan</a:t>
            </a:r>
            <a:r>
              <a:rPr lang="en-ID" sz="2000" dirty="0"/>
              <a:t> </a:t>
            </a:r>
            <a:r>
              <a:rPr lang="en-ID" sz="2000" dirty="0" err="1"/>
              <a:t>ke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ruang</a:t>
            </a:r>
            <a:r>
              <a:rPr lang="en-ID" sz="2000" dirty="0"/>
              <a:t> </a:t>
            </a:r>
            <a:r>
              <a:rPr lang="en-ID" sz="2000" dirty="0" err="1"/>
              <a:t>dimensi</a:t>
            </a:r>
            <a:r>
              <a:rPr lang="en-ID" sz="2000" dirty="0"/>
              <a:t> </a:t>
            </a:r>
            <a:r>
              <a:rPr lang="en-ID" sz="2000" dirty="0" err="1"/>
              <a:t>vektor</a:t>
            </a:r>
            <a:r>
              <a:rPr lang="en-ID" sz="2000" dirty="0"/>
              <a:t> TF-IDF.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671E99F-362D-5BC4-AA45-75EB54827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7" y="2084439"/>
            <a:ext cx="5358580" cy="4286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2717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F7384-D491-52E5-720E-E231137A5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07C18-760C-A3D4-721D-2F2B646B7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Akurasi</a:t>
            </a:r>
            <a:r>
              <a:rPr lang="en-ID" dirty="0"/>
              <a:t> dan </a:t>
            </a:r>
            <a:r>
              <a:rPr lang="en-ID" dirty="0" err="1"/>
              <a:t>Analisis</a:t>
            </a:r>
            <a:r>
              <a:rPr lang="en-ID" dirty="0"/>
              <a:t> Confusion Matrix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C99747-BB1C-C21F-FCEB-A16E7EDC5AE6}"/>
              </a:ext>
            </a:extLst>
          </p:cNvPr>
          <p:cNvSpPr txBox="1"/>
          <p:nvPr/>
        </p:nvSpPr>
        <p:spPr>
          <a:xfrm>
            <a:off x="5565057" y="2084439"/>
            <a:ext cx="6223819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2000" dirty="0" err="1"/>
              <a:t>Evaluasi</a:t>
            </a:r>
            <a:r>
              <a:rPr lang="en-ID" sz="2000" dirty="0"/>
              <a:t> </a:t>
            </a:r>
            <a:r>
              <a:rPr lang="en-ID" sz="2000" dirty="0" err="1"/>
              <a:t>kuantitatif</a:t>
            </a:r>
            <a:r>
              <a:rPr lang="en-ID" sz="2000" dirty="0"/>
              <a:t> </a:t>
            </a:r>
            <a:r>
              <a:rPr lang="en-ID" sz="2000" dirty="0" err="1"/>
              <a:t>menetapkan</a:t>
            </a:r>
            <a:r>
              <a:rPr lang="en-ID" sz="2000" dirty="0"/>
              <a:t> </a:t>
            </a:r>
            <a:r>
              <a:rPr lang="en-ID" sz="2000" dirty="0" err="1"/>
              <a:t>XGBoost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model final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pencapaian</a:t>
            </a:r>
            <a:r>
              <a:rPr lang="en-ID" sz="2000" dirty="0"/>
              <a:t> </a:t>
            </a:r>
            <a:r>
              <a:rPr lang="en-ID" sz="2000" dirty="0" err="1"/>
              <a:t>akurasi</a:t>
            </a:r>
            <a:r>
              <a:rPr lang="en-ID" sz="2000" dirty="0"/>
              <a:t> </a:t>
            </a:r>
            <a:r>
              <a:rPr lang="en-ID" sz="2000" dirty="0" err="1"/>
              <a:t>sebesar</a:t>
            </a:r>
            <a:r>
              <a:rPr lang="en-ID" sz="2000" dirty="0"/>
              <a:t> 82.60% dan area </a:t>
            </a:r>
            <a:r>
              <a:rPr lang="en-ID" sz="2000" dirty="0" err="1"/>
              <a:t>kurva</a:t>
            </a:r>
            <a:r>
              <a:rPr lang="en-ID" sz="2000" dirty="0"/>
              <a:t> </a:t>
            </a:r>
            <a:r>
              <a:rPr lang="en-ID" sz="2000" dirty="0" err="1"/>
              <a:t>pemisahan</a:t>
            </a:r>
            <a:r>
              <a:rPr lang="en-ID" sz="2000" dirty="0"/>
              <a:t> (ROC-AUC) di </a:t>
            </a:r>
            <a:r>
              <a:rPr lang="en-ID" sz="2000" dirty="0" err="1"/>
              <a:t>angka</a:t>
            </a:r>
            <a:r>
              <a:rPr lang="en-ID" sz="2000" dirty="0"/>
              <a:t> 92.16% yang </a:t>
            </a:r>
            <a:r>
              <a:rPr lang="en-ID" sz="2000" dirty="0" err="1"/>
              <a:t>masuk</a:t>
            </a:r>
            <a:r>
              <a:rPr lang="en-ID" sz="2000" dirty="0"/>
              <a:t> </a:t>
            </a:r>
            <a:r>
              <a:rPr lang="en-ID" sz="2000" dirty="0" err="1"/>
              <a:t>dalam</a:t>
            </a:r>
            <a:r>
              <a:rPr lang="en-ID" sz="2000" dirty="0"/>
              <a:t> </a:t>
            </a:r>
            <a:r>
              <a:rPr lang="en-ID" sz="2000" dirty="0" err="1"/>
              <a:t>kualifikasi</a:t>
            </a:r>
            <a:r>
              <a:rPr lang="en-ID" sz="2000" dirty="0"/>
              <a:t> sangat </a:t>
            </a:r>
            <a:r>
              <a:rPr lang="en-ID" sz="2000" dirty="0" err="1"/>
              <a:t>baik</a:t>
            </a:r>
            <a:r>
              <a:rPr lang="en-ID" sz="2000" dirty="0"/>
              <a:t>. </a:t>
            </a:r>
            <a:r>
              <a:rPr lang="en-ID" sz="2000" dirty="0" err="1"/>
              <a:t>Analisis</a:t>
            </a:r>
            <a:r>
              <a:rPr lang="en-ID" sz="2000" dirty="0"/>
              <a:t> </a:t>
            </a:r>
            <a:r>
              <a:rPr lang="en-ID" sz="2000" dirty="0" err="1"/>
              <a:t>mendalam</a:t>
            </a:r>
            <a:r>
              <a:rPr lang="en-ID" sz="2000" dirty="0"/>
              <a:t> </a:t>
            </a:r>
            <a:r>
              <a:rPr lang="en-ID" sz="2000" dirty="0" err="1"/>
              <a:t>melalui</a:t>
            </a:r>
            <a:r>
              <a:rPr lang="en-ID" sz="2000" dirty="0"/>
              <a:t> </a:t>
            </a:r>
            <a:r>
              <a:rPr lang="en-ID" sz="2000" i="1" dirty="0"/>
              <a:t>Confusion Matrix</a:t>
            </a:r>
            <a:r>
              <a:rPr lang="en-ID" sz="2000" dirty="0"/>
              <a:t> </a:t>
            </a:r>
            <a:r>
              <a:rPr lang="en-ID" sz="2000" dirty="0" err="1"/>
              <a:t>menunjukkan</a:t>
            </a:r>
            <a:r>
              <a:rPr lang="en-ID" sz="2000" dirty="0"/>
              <a:t> </a:t>
            </a:r>
            <a:r>
              <a:rPr lang="en-ID" sz="2000" dirty="0" err="1"/>
              <a:t>performa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saat</a:t>
            </a:r>
            <a:r>
              <a:rPr lang="en-ID" sz="2000" dirty="0"/>
              <a:t> </a:t>
            </a:r>
            <a:r>
              <a:rPr lang="en-ID" sz="2000" dirty="0" err="1"/>
              <a:t>dihadapkan</a:t>
            </a:r>
            <a:r>
              <a:rPr lang="en-ID" sz="2000" dirty="0"/>
              <a:t> pada data </a:t>
            </a:r>
            <a:r>
              <a:rPr lang="en-ID" sz="2000" i="1" dirty="0"/>
              <a:t>testing</a:t>
            </a:r>
            <a:r>
              <a:rPr lang="en-ID" sz="2000" dirty="0"/>
              <a:t> </a:t>
            </a:r>
            <a:r>
              <a:rPr lang="en-ID" sz="2000" dirty="0" err="1"/>
              <a:t>baru</a:t>
            </a:r>
            <a:r>
              <a:rPr lang="en-ID" sz="2000" dirty="0"/>
              <a:t>. Baris </a:t>
            </a:r>
            <a:r>
              <a:rPr lang="en-ID" sz="2000" dirty="0" err="1"/>
              <a:t>pertama</a:t>
            </a:r>
            <a:r>
              <a:rPr lang="en-ID" sz="2000" dirty="0"/>
              <a:t> </a:t>
            </a:r>
            <a:r>
              <a:rPr lang="en-ID" sz="2000" dirty="0" err="1"/>
              <a:t>menunjukkan</a:t>
            </a:r>
            <a:r>
              <a:rPr lang="en-ID" sz="2000" dirty="0"/>
              <a:t> 5 </a:t>
            </a:r>
            <a:r>
              <a:rPr lang="en-ID" sz="2000" dirty="0" err="1"/>
              <a:t>prediksi</a:t>
            </a:r>
            <a:r>
              <a:rPr lang="en-ID" sz="2000" dirty="0"/>
              <a:t> </a:t>
            </a:r>
            <a:r>
              <a:rPr lang="en-ID" sz="2000" dirty="0" err="1"/>
              <a:t>tepat</a:t>
            </a:r>
            <a:r>
              <a:rPr lang="en-ID" sz="2000" dirty="0"/>
              <a:t> (</a:t>
            </a:r>
            <a:r>
              <a:rPr lang="en-ID" sz="2000" i="1" dirty="0"/>
              <a:t>True Positives</a:t>
            </a:r>
            <a:r>
              <a:rPr lang="en-ID" sz="2000" dirty="0"/>
              <a:t>)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Kurikulum</a:t>
            </a:r>
            <a:r>
              <a:rPr lang="en-ID" sz="2000" dirty="0"/>
              <a:t> Akademik, dan baris </a:t>
            </a:r>
            <a:r>
              <a:rPr lang="en-ID" sz="2000" dirty="0" err="1"/>
              <a:t>kedua</a:t>
            </a:r>
            <a:r>
              <a:rPr lang="en-ID" sz="2000" dirty="0"/>
              <a:t> </a:t>
            </a:r>
            <a:r>
              <a:rPr lang="en-ID" sz="2000" dirty="0" err="1"/>
              <a:t>menghasilkan</a:t>
            </a:r>
            <a:r>
              <a:rPr lang="en-ID" sz="2000" dirty="0"/>
              <a:t> 6 </a:t>
            </a:r>
            <a:r>
              <a:rPr lang="en-ID" sz="2000" dirty="0" err="1"/>
              <a:t>prediksi</a:t>
            </a:r>
            <a:r>
              <a:rPr lang="en-ID" sz="2000" dirty="0"/>
              <a:t> </a:t>
            </a:r>
            <a:r>
              <a:rPr lang="en-ID" sz="2000" dirty="0" err="1"/>
              <a:t>sempurna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Tugas</a:t>
            </a:r>
            <a:r>
              <a:rPr lang="en-ID" sz="2000" dirty="0"/>
              <a:t> Akhir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galat</a:t>
            </a:r>
            <a:r>
              <a:rPr lang="en-ID" sz="2000" dirty="0"/>
              <a:t> yang sangat minor. Kinerja paling </a:t>
            </a:r>
            <a:r>
              <a:rPr lang="en-ID" sz="2000" dirty="0" err="1"/>
              <a:t>spektakuler</a:t>
            </a:r>
            <a:r>
              <a:rPr lang="en-ID" sz="2000" dirty="0"/>
              <a:t> </a:t>
            </a:r>
            <a:r>
              <a:rPr lang="en-ID" sz="2000" dirty="0" err="1"/>
              <a:t>terlihat</a:t>
            </a:r>
            <a:r>
              <a:rPr lang="en-ID" sz="2000" dirty="0"/>
              <a:t> pada baris </a:t>
            </a:r>
            <a:r>
              <a:rPr lang="en-ID" sz="2000" dirty="0" err="1"/>
              <a:t>ketiga</a:t>
            </a:r>
            <a:r>
              <a:rPr lang="en-ID" sz="2000" dirty="0"/>
              <a:t>, di mana </a:t>
            </a:r>
            <a:r>
              <a:rPr lang="en-ID" sz="2000" dirty="0" err="1"/>
              <a:t>seluruh</a:t>
            </a:r>
            <a:r>
              <a:rPr lang="en-ID" sz="2000" dirty="0"/>
              <a:t> </a:t>
            </a:r>
            <a:r>
              <a:rPr lang="en-ID" sz="2000" dirty="0" err="1"/>
              <a:t>sampel</a:t>
            </a:r>
            <a:r>
              <a:rPr lang="en-ID" sz="2000" dirty="0"/>
              <a:t> (8 data) </a:t>
            </a:r>
            <a:r>
              <a:rPr lang="en-ID" sz="2000" dirty="0" err="1"/>
              <a:t>klasifikasi</a:t>
            </a:r>
            <a:r>
              <a:rPr lang="en-ID" sz="2000" dirty="0"/>
              <a:t> Tata </a:t>
            </a:r>
            <a:r>
              <a:rPr lang="en-ID" sz="2000" dirty="0" err="1"/>
              <a:t>Tertib</a:t>
            </a:r>
            <a:r>
              <a:rPr lang="en-ID" sz="2000" dirty="0"/>
              <a:t> </a:t>
            </a:r>
            <a:r>
              <a:rPr lang="en-ID" sz="2000" dirty="0" err="1"/>
              <a:t>Kedisiplinan</a:t>
            </a:r>
            <a:r>
              <a:rPr lang="en-ID" sz="2000" dirty="0"/>
              <a:t> </a:t>
            </a:r>
            <a:r>
              <a:rPr lang="en-ID" sz="2000" dirty="0" err="1"/>
              <a:t>diprediksi</a:t>
            </a:r>
            <a:r>
              <a:rPr lang="en-ID" sz="2000" dirty="0"/>
              <a:t>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tingkat</a:t>
            </a:r>
            <a:r>
              <a:rPr lang="en-ID" sz="2000" dirty="0"/>
              <a:t> </a:t>
            </a:r>
            <a:r>
              <a:rPr lang="en-ID" sz="2000" dirty="0" err="1"/>
              <a:t>akurasi</a:t>
            </a:r>
            <a:r>
              <a:rPr lang="en-ID" sz="2000" dirty="0"/>
              <a:t> 100% </a:t>
            </a:r>
            <a:r>
              <a:rPr lang="en-ID" sz="2000" dirty="0" err="1"/>
              <a:t>tanpa</a:t>
            </a:r>
            <a:r>
              <a:rPr lang="en-ID" sz="2000" dirty="0"/>
              <a:t> </a:t>
            </a:r>
            <a:r>
              <a:rPr lang="en-ID" sz="2000" dirty="0" err="1"/>
              <a:t>adanya</a:t>
            </a:r>
            <a:r>
              <a:rPr lang="en-ID" sz="2000" dirty="0"/>
              <a:t> </a:t>
            </a:r>
            <a:r>
              <a:rPr lang="en-ID" sz="2000" i="1" dirty="0"/>
              <a:t>false positives</a:t>
            </a:r>
            <a:r>
              <a:rPr lang="en-ID" sz="2000" dirty="0"/>
              <a:t> </a:t>
            </a:r>
            <a:r>
              <a:rPr lang="en-ID" sz="2000" dirty="0" err="1"/>
              <a:t>maupun</a:t>
            </a:r>
            <a:r>
              <a:rPr lang="en-ID" sz="2000" dirty="0"/>
              <a:t> </a:t>
            </a:r>
            <a:r>
              <a:rPr lang="en-ID" sz="2000" i="1" dirty="0"/>
              <a:t>false negatives</a:t>
            </a:r>
            <a:r>
              <a:rPr lang="en-ID" sz="20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35C2A2B-39A3-07AF-59AB-318721F26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87" y="2084439"/>
            <a:ext cx="5447070" cy="4534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0334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946843-9FFE-72E5-90C4-14BAE578A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5600-11DF-1497-FEF0-E7B3BC9FF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Validasi</a:t>
            </a:r>
            <a:r>
              <a:rPr lang="en-ID" dirty="0"/>
              <a:t> Logika Keputusan </a:t>
            </a:r>
            <a:r>
              <a:rPr lang="en-ID" dirty="0" err="1"/>
              <a:t>Menggunakan</a:t>
            </a:r>
            <a:r>
              <a:rPr lang="en-ID" dirty="0"/>
              <a:t> LIME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7AE0F20-8CFE-0CFC-EEE1-4EF41C7B6B13}"/>
              </a:ext>
            </a:extLst>
          </p:cNvPr>
          <p:cNvSpPr txBox="1"/>
          <p:nvPr/>
        </p:nvSpPr>
        <p:spPr>
          <a:xfrm>
            <a:off x="157317" y="4424516"/>
            <a:ext cx="1163156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mengeliminasi</a:t>
            </a:r>
            <a:r>
              <a:rPr lang="en-ID" dirty="0"/>
              <a:t> </a:t>
            </a:r>
            <a:r>
              <a:rPr lang="en-ID" dirty="0" err="1"/>
              <a:t>sifat</a:t>
            </a:r>
            <a:r>
              <a:rPr lang="en-ID" dirty="0"/>
              <a:t> </a:t>
            </a:r>
            <a:r>
              <a:rPr lang="en-ID" i="1" dirty="0"/>
              <a:t>black-box</a:t>
            </a:r>
            <a:r>
              <a:rPr lang="en-ID" dirty="0"/>
              <a:t> </a:t>
            </a:r>
            <a:r>
              <a:rPr lang="en-ID" dirty="0" err="1"/>
              <a:t>dari</a:t>
            </a:r>
            <a:r>
              <a:rPr lang="en-ID" dirty="0"/>
              <a:t> </a:t>
            </a:r>
            <a:r>
              <a:rPr lang="en-ID" dirty="0" err="1"/>
              <a:t>algoritma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, </a:t>
            </a:r>
            <a:r>
              <a:rPr lang="en-ID" dirty="0" err="1"/>
              <a:t>evaluasi</a:t>
            </a:r>
            <a:r>
              <a:rPr lang="en-ID" dirty="0"/>
              <a:t> </a:t>
            </a:r>
            <a:r>
              <a:rPr lang="en-ID" dirty="0" err="1"/>
              <a:t>logika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dilakukan</a:t>
            </a:r>
            <a:r>
              <a:rPr lang="en-ID" dirty="0"/>
              <a:t> </a:t>
            </a:r>
            <a:r>
              <a:rPr lang="en-ID" dirty="0" err="1"/>
              <a:t>menggunakan</a:t>
            </a:r>
            <a:r>
              <a:rPr lang="en-ID" dirty="0"/>
              <a:t> </a:t>
            </a:r>
            <a:r>
              <a:rPr lang="en-ID" dirty="0" err="1"/>
              <a:t>kerangka</a:t>
            </a:r>
            <a:r>
              <a:rPr lang="en-ID" dirty="0"/>
              <a:t> LIME (</a:t>
            </a:r>
            <a:r>
              <a:rPr lang="en-ID" i="1" dirty="0"/>
              <a:t>Local Interpretable Model-agnostic Explanations</a:t>
            </a:r>
            <a:r>
              <a:rPr lang="en-ID" dirty="0"/>
              <a:t>). Gambar di </a:t>
            </a:r>
            <a:r>
              <a:rPr lang="en-ID" dirty="0" err="1"/>
              <a:t>atas</a:t>
            </a:r>
            <a:r>
              <a:rPr lang="en-ID" dirty="0"/>
              <a:t> </a:t>
            </a:r>
            <a:r>
              <a:rPr lang="en-ID" dirty="0" err="1"/>
              <a:t>memperlihatkan</a:t>
            </a:r>
            <a:r>
              <a:rPr lang="en-ID" dirty="0"/>
              <a:t> </a:t>
            </a:r>
            <a:r>
              <a:rPr lang="en-ID" dirty="0" err="1"/>
              <a:t>bagaimana</a:t>
            </a:r>
            <a:r>
              <a:rPr lang="en-ID" dirty="0"/>
              <a:t> </a:t>
            </a:r>
            <a:r>
              <a:rPr lang="en-ID" dirty="0" err="1"/>
              <a:t>sistem</a:t>
            </a:r>
            <a:r>
              <a:rPr lang="en-ID" dirty="0"/>
              <a:t> </a:t>
            </a:r>
            <a:r>
              <a:rPr lang="en-ID" dirty="0" err="1"/>
              <a:t>menghasilkan</a:t>
            </a:r>
            <a:r>
              <a:rPr lang="en-ID" dirty="0"/>
              <a:t> </a:t>
            </a:r>
            <a:r>
              <a:rPr lang="en-ID" dirty="0" err="1"/>
              <a:t>prediksi</a:t>
            </a:r>
            <a:r>
              <a:rPr lang="en-ID" dirty="0"/>
              <a:t> </a:t>
            </a:r>
            <a:r>
              <a:rPr lang="en-ID" dirty="0" err="1"/>
              <a:t>probabilitas</a:t>
            </a:r>
            <a:r>
              <a:rPr lang="en-ID" dirty="0"/>
              <a:t> </a:t>
            </a:r>
            <a:r>
              <a:rPr lang="en-ID" dirty="0" err="1"/>
              <a:t>sebesar</a:t>
            </a:r>
            <a:r>
              <a:rPr lang="en-ID" dirty="0"/>
              <a:t> 89% </a:t>
            </a:r>
            <a:r>
              <a:rPr lang="en-ID" dirty="0" err="1"/>
              <a:t>menuju</a:t>
            </a:r>
            <a:r>
              <a:rPr lang="en-ID" dirty="0"/>
              <a:t> </a:t>
            </a:r>
            <a:r>
              <a:rPr lang="en-ID" dirty="0" err="1"/>
              <a:t>kelas</a:t>
            </a:r>
            <a:r>
              <a:rPr lang="en-ID" dirty="0"/>
              <a:t> </a:t>
            </a:r>
            <a:r>
              <a:rPr lang="en-ID" sz="1600" dirty="0" err="1"/>
              <a:t>Kurikulum_Akademik</a:t>
            </a:r>
            <a:r>
              <a:rPr lang="en-ID" dirty="0"/>
              <a:t>. </a:t>
            </a:r>
            <a:r>
              <a:rPr lang="en-ID" dirty="0" err="1"/>
              <a:t>Visualisasi</a:t>
            </a:r>
            <a:r>
              <a:rPr lang="en-ID" dirty="0"/>
              <a:t> </a:t>
            </a:r>
            <a:r>
              <a:rPr lang="en-ID" dirty="0" err="1"/>
              <a:t>batang</a:t>
            </a:r>
            <a:r>
              <a:rPr lang="en-ID" dirty="0"/>
              <a:t> (</a:t>
            </a:r>
            <a:r>
              <a:rPr lang="en-ID" dirty="0" err="1"/>
              <a:t>hijau</a:t>
            </a:r>
            <a:r>
              <a:rPr lang="en-ID" dirty="0"/>
              <a:t>/</a:t>
            </a:r>
            <a:r>
              <a:rPr lang="en-ID" dirty="0" err="1"/>
              <a:t>oranye</a:t>
            </a:r>
            <a:r>
              <a:rPr lang="en-ID" dirty="0"/>
              <a:t>) </a:t>
            </a:r>
            <a:r>
              <a:rPr lang="en-ID" dirty="0" err="1"/>
              <a:t>mengungkap</a:t>
            </a:r>
            <a:r>
              <a:rPr lang="en-ID" dirty="0"/>
              <a:t> </a:t>
            </a:r>
            <a:r>
              <a:rPr lang="en-ID" dirty="0" err="1"/>
              <a:t>alasan</a:t>
            </a:r>
            <a:r>
              <a:rPr lang="en-ID" dirty="0"/>
              <a:t> </a:t>
            </a:r>
            <a:r>
              <a:rPr lang="en-ID" dirty="0" err="1"/>
              <a:t>rasional</a:t>
            </a:r>
            <a:r>
              <a:rPr lang="en-ID" dirty="0"/>
              <a:t> di </a:t>
            </a:r>
            <a:r>
              <a:rPr lang="en-ID" dirty="0" err="1"/>
              <a:t>balik</a:t>
            </a:r>
            <a:r>
              <a:rPr lang="en-ID" dirty="0"/>
              <a:t> </a:t>
            </a:r>
            <a:r>
              <a:rPr lang="en-ID" dirty="0" err="1"/>
              <a:t>persentase</a:t>
            </a:r>
            <a:r>
              <a:rPr lang="en-ID" dirty="0"/>
              <a:t> </a:t>
            </a:r>
            <a:r>
              <a:rPr lang="en-ID" dirty="0" err="1"/>
              <a:t>tersebut</a:t>
            </a:r>
            <a:r>
              <a:rPr lang="en-ID" dirty="0"/>
              <a:t>: </a:t>
            </a:r>
            <a:r>
              <a:rPr lang="en-ID" dirty="0" err="1"/>
              <a:t>keberadaan</a:t>
            </a:r>
            <a:r>
              <a:rPr lang="en-ID" dirty="0"/>
              <a:t> kata "</a:t>
            </a:r>
            <a:r>
              <a:rPr lang="en-ID" dirty="0" err="1"/>
              <a:t>mata</a:t>
            </a:r>
            <a:r>
              <a:rPr lang="en-ID" dirty="0"/>
              <a:t>" (</a:t>
            </a:r>
            <a:r>
              <a:rPr lang="en-ID" dirty="0" err="1"/>
              <a:t>dengan</a:t>
            </a:r>
            <a:r>
              <a:rPr lang="en-ID" dirty="0"/>
              <a:t> </a:t>
            </a:r>
            <a:r>
              <a:rPr lang="en-ID" dirty="0" err="1"/>
              <a:t>bobot</a:t>
            </a:r>
            <a:r>
              <a:rPr lang="en-ID" dirty="0"/>
              <a:t> </a:t>
            </a:r>
            <a:r>
              <a:rPr lang="en-ID" dirty="0" err="1"/>
              <a:t>kontribusi</a:t>
            </a:r>
            <a:r>
              <a:rPr lang="en-ID" dirty="0"/>
              <a:t> 0.26) dan "</a:t>
            </a:r>
            <a:r>
              <a:rPr lang="en-ID" dirty="0" err="1"/>
              <a:t>sks</a:t>
            </a:r>
            <a:r>
              <a:rPr lang="en-ID" dirty="0"/>
              <a:t>" (</a:t>
            </a:r>
            <a:r>
              <a:rPr lang="en-ID" dirty="0" err="1"/>
              <a:t>bobot</a:t>
            </a:r>
            <a:r>
              <a:rPr lang="en-ID" dirty="0"/>
              <a:t> 0.12) </a:t>
            </a:r>
            <a:r>
              <a:rPr lang="en-ID" dirty="0" err="1"/>
              <a:t>bertindak</a:t>
            </a:r>
            <a:r>
              <a:rPr lang="en-ID" dirty="0"/>
              <a:t> </a:t>
            </a:r>
            <a:r>
              <a:rPr lang="en-ID" dirty="0" err="1"/>
              <a:t>sebagai</a:t>
            </a:r>
            <a:r>
              <a:rPr lang="en-ID" dirty="0"/>
              <a:t> </a:t>
            </a:r>
            <a:r>
              <a:rPr lang="en-ID" dirty="0" err="1"/>
              <a:t>fitur</a:t>
            </a:r>
            <a:r>
              <a:rPr lang="en-ID" dirty="0"/>
              <a:t> </a:t>
            </a:r>
            <a:r>
              <a:rPr lang="en-ID" dirty="0" err="1"/>
              <a:t>jangkar</a:t>
            </a:r>
            <a:r>
              <a:rPr lang="en-ID" dirty="0"/>
              <a:t> yang </a:t>
            </a:r>
            <a:r>
              <a:rPr lang="en-ID" dirty="0" err="1"/>
              <a:t>menarik</a:t>
            </a:r>
            <a:r>
              <a:rPr lang="en-ID" dirty="0"/>
              <a:t> </a:t>
            </a:r>
            <a:r>
              <a:rPr lang="en-ID" dirty="0" err="1"/>
              <a:t>hasil</a:t>
            </a:r>
            <a:r>
              <a:rPr lang="en-ID" dirty="0"/>
              <a:t> </a:t>
            </a:r>
            <a:r>
              <a:rPr lang="en-ID" dirty="0" err="1"/>
              <a:t>klasifikasi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arah</a:t>
            </a:r>
            <a:r>
              <a:rPr lang="en-ID" dirty="0"/>
              <a:t> </a:t>
            </a:r>
            <a:r>
              <a:rPr lang="en-ID" dirty="0" err="1"/>
              <a:t>dokumen</a:t>
            </a:r>
            <a:r>
              <a:rPr lang="en-ID" dirty="0"/>
              <a:t> </a:t>
            </a:r>
            <a:r>
              <a:rPr lang="en-ID" dirty="0" err="1"/>
              <a:t>kurikulum</a:t>
            </a:r>
            <a:r>
              <a:rPr lang="en-ID" dirty="0"/>
              <a:t>. Di </a:t>
            </a:r>
            <a:r>
              <a:rPr lang="en-ID" dirty="0" err="1"/>
              <a:t>sisi</a:t>
            </a:r>
            <a:r>
              <a:rPr lang="en-ID" dirty="0"/>
              <a:t> lain, </a:t>
            </a:r>
            <a:r>
              <a:rPr lang="en-ID" dirty="0" err="1"/>
              <a:t>ketiadaan</a:t>
            </a:r>
            <a:r>
              <a:rPr lang="en-ID" dirty="0"/>
              <a:t> kata </a:t>
            </a:r>
            <a:r>
              <a:rPr lang="en-ID" dirty="0" err="1"/>
              <a:t>kunci</a:t>
            </a:r>
            <a:r>
              <a:rPr lang="en-ID" dirty="0"/>
              <a:t> "</a:t>
            </a:r>
            <a:r>
              <a:rPr lang="en-ID" dirty="0" err="1"/>
              <a:t>skripsi</a:t>
            </a:r>
            <a:r>
              <a:rPr lang="en-ID" dirty="0"/>
              <a:t>" </a:t>
            </a:r>
            <a:r>
              <a:rPr lang="en-ID" dirty="0" err="1"/>
              <a:t>atau</a:t>
            </a:r>
            <a:r>
              <a:rPr lang="en-ID" dirty="0"/>
              <a:t> "</a:t>
            </a:r>
            <a:r>
              <a:rPr lang="en-ID" dirty="0" err="1"/>
              <a:t>pustaka</a:t>
            </a:r>
            <a:r>
              <a:rPr lang="en-ID" dirty="0"/>
              <a:t>" di </a:t>
            </a:r>
            <a:r>
              <a:rPr lang="en-ID" dirty="0" err="1"/>
              <a:t>dalam</a:t>
            </a:r>
            <a:r>
              <a:rPr lang="en-ID" dirty="0"/>
              <a:t> </a:t>
            </a:r>
            <a:r>
              <a:rPr lang="en-ID" dirty="0" err="1"/>
              <a:t>kalimat</a:t>
            </a:r>
            <a:r>
              <a:rPr lang="en-ID" dirty="0"/>
              <a:t> </a:t>
            </a:r>
            <a:r>
              <a:rPr lang="en-ID" dirty="0" err="1"/>
              <a:t>menahan</a:t>
            </a:r>
            <a:r>
              <a:rPr lang="en-ID" dirty="0"/>
              <a:t> </a:t>
            </a:r>
            <a:r>
              <a:rPr lang="en-ID" dirty="0" err="1"/>
              <a:t>probabilitas</a:t>
            </a:r>
            <a:r>
              <a:rPr lang="en-ID" dirty="0"/>
              <a:t> </a:t>
            </a:r>
            <a:r>
              <a:rPr lang="en-ID" dirty="0" err="1"/>
              <a:t>untuk</a:t>
            </a:r>
            <a:r>
              <a:rPr lang="en-ID" dirty="0"/>
              <a:t> </a:t>
            </a:r>
            <a:r>
              <a:rPr lang="en-ID" dirty="0" err="1"/>
              <a:t>bergeser</a:t>
            </a:r>
            <a:r>
              <a:rPr lang="en-ID" dirty="0"/>
              <a:t> </a:t>
            </a:r>
            <a:r>
              <a:rPr lang="en-ID" dirty="0" err="1"/>
              <a:t>ke</a:t>
            </a:r>
            <a:r>
              <a:rPr lang="en-ID" dirty="0"/>
              <a:t> </a:t>
            </a:r>
            <a:r>
              <a:rPr lang="en-ID" dirty="0" err="1"/>
              <a:t>kategori</a:t>
            </a:r>
            <a:r>
              <a:rPr lang="en-ID" dirty="0"/>
              <a:t> </a:t>
            </a:r>
            <a:r>
              <a:rPr lang="en-ID" dirty="0" err="1"/>
              <a:t>Tugas</a:t>
            </a:r>
            <a:r>
              <a:rPr lang="en-ID" dirty="0"/>
              <a:t> Akhir. Ini </a:t>
            </a:r>
            <a:r>
              <a:rPr lang="en-ID" dirty="0" err="1"/>
              <a:t>membuktikan</a:t>
            </a:r>
            <a:r>
              <a:rPr lang="en-ID" dirty="0"/>
              <a:t> </a:t>
            </a:r>
            <a:r>
              <a:rPr lang="en-ID" dirty="0" err="1"/>
              <a:t>kecerdasan</a:t>
            </a:r>
            <a:r>
              <a:rPr lang="en-ID" dirty="0"/>
              <a:t> model </a:t>
            </a:r>
            <a:r>
              <a:rPr lang="en-ID" dirty="0" err="1"/>
              <a:t>dilandasi</a:t>
            </a:r>
            <a:r>
              <a:rPr lang="en-ID" dirty="0"/>
              <a:t> oleh </a:t>
            </a:r>
            <a:r>
              <a:rPr lang="en-ID" dirty="0" err="1"/>
              <a:t>rasionalitas</a:t>
            </a:r>
            <a:r>
              <a:rPr lang="en-ID" dirty="0"/>
              <a:t> </a:t>
            </a:r>
            <a:r>
              <a:rPr lang="en-ID" dirty="0" err="1"/>
              <a:t>linguistik</a:t>
            </a:r>
            <a:r>
              <a:rPr lang="en-ID" dirty="0"/>
              <a:t> yang valid.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4D93FA2-78FF-3E7D-F344-3C3C2A2871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206" y="1877962"/>
            <a:ext cx="7937587" cy="2546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2180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BE3DD-160D-8410-CDB5-EDA63BCCF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B11A4-66AA-4FCA-584D-737A818129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 err="1"/>
              <a:t>Implementasi</a:t>
            </a:r>
            <a:r>
              <a:rPr lang="en-ID" dirty="0"/>
              <a:t> Smart Assistant </a:t>
            </a:r>
            <a:r>
              <a:rPr lang="en-ID" dirty="0" err="1"/>
              <a:t>Berbasis</a:t>
            </a:r>
            <a:r>
              <a:rPr lang="en-ID" dirty="0"/>
              <a:t> </a:t>
            </a:r>
            <a:r>
              <a:rPr lang="en-ID" dirty="0" err="1"/>
              <a:t>Streamlit</a:t>
            </a:r>
            <a:r>
              <a:rPr lang="en-ID" dirty="0"/>
              <a:t> Cloud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C612645-C2CE-38BD-48C9-D7E979524EA3}"/>
              </a:ext>
            </a:extLst>
          </p:cNvPr>
          <p:cNvSpPr txBox="1"/>
          <p:nvPr/>
        </p:nvSpPr>
        <p:spPr>
          <a:xfrm>
            <a:off x="7914967" y="1964086"/>
            <a:ext cx="3873909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D" sz="1600" dirty="0" err="1"/>
              <a:t>Tahap</a:t>
            </a:r>
            <a:r>
              <a:rPr lang="en-ID" sz="1600" dirty="0"/>
              <a:t> </a:t>
            </a:r>
            <a:r>
              <a:rPr lang="en-ID" sz="1600" dirty="0" err="1"/>
              <a:t>akhir</a:t>
            </a:r>
            <a:r>
              <a:rPr lang="en-ID" sz="1600" dirty="0"/>
              <a:t> </a:t>
            </a:r>
            <a:r>
              <a:rPr lang="en-ID" sz="1600" dirty="0" err="1"/>
              <a:t>penelitian</a:t>
            </a:r>
            <a:r>
              <a:rPr lang="en-ID" sz="1600" dirty="0"/>
              <a:t> </a:t>
            </a:r>
            <a:r>
              <a:rPr lang="en-ID" sz="1600" dirty="0" err="1"/>
              <a:t>adalah</a:t>
            </a:r>
            <a:r>
              <a:rPr lang="en-ID" sz="1600" dirty="0"/>
              <a:t> </a:t>
            </a:r>
            <a:r>
              <a:rPr lang="en-ID" sz="1600" dirty="0" err="1"/>
              <a:t>enkapsulasi</a:t>
            </a:r>
            <a:r>
              <a:rPr lang="en-ID" sz="1600" dirty="0"/>
              <a:t> model </a:t>
            </a:r>
            <a:r>
              <a:rPr lang="en-ID" sz="1600" dirty="0" err="1"/>
              <a:t>prediktif</a:t>
            </a:r>
            <a:r>
              <a:rPr lang="en-ID" sz="1600" dirty="0"/>
              <a:t> (</a:t>
            </a:r>
            <a:r>
              <a:rPr lang="en-ID" sz="1600" dirty="0" err="1"/>
              <a:t>best_model.pkl</a:t>
            </a:r>
            <a:r>
              <a:rPr lang="en-ID" sz="1600" dirty="0"/>
              <a:t>), </a:t>
            </a:r>
            <a:r>
              <a:rPr lang="en-ID" sz="1600" dirty="0" err="1"/>
              <a:t>objek</a:t>
            </a:r>
            <a:r>
              <a:rPr lang="en-ID" sz="1600" dirty="0"/>
              <a:t> </a:t>
            </a:r>
            <a:r>
              <a:rPr lang="en-ID" sz="1600" dirty="0" err="1"/>
              <a:t>matriks</a:t>
            </a:r>
            <a:r>
              <a:rPr lang="en-ID" sz="1600" dirty="0"/>
              <a:t> </a:t>
            </a:r>
            <a:r>
              <a:rPr lang="en-ID" sz="1600" dirty="0" err="1"/>
              <a:t>pemrosesan</a:t>
            </a:r>
            <a:r>
              <a:rPr lang="en-ID" sz="1600" dirty="0"/>
              <a:t>, dan </a:t>
            </a:r>
            <a:r>
              <a:rPr lang="en-ID" sz="1600" i="1" dirty="0"/>
              <a:t>script</a:t>
            </a:r>
            <a:r>
              <a:rPr lang="en-ID" sz="1600" dirty="0"/>
              <a:t> </a:t>
            </a:r>
            <a:r>
              <a:rPr lang="en-ID" sz="1600" dirty="0" err="1"/>
              <a:t>inferensi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antarmuka</a:t>
            </a:r>
            <a:r>
              <a:rPr lang="en-ID" sz="1600" dirty="0"/>
              <a:t> </a:t>
            </a:r>
            <a:r>
              <a:rPr lang="en-ID" sz="1600" dirty="0" err="1"/>
              <a:t>berbasis</a:t>
            </a:r>
            <a:r>
              <a:rPr lang="en-ID" sz="1600" dirty="0"/>
              <a:t> </a:t>
            </a:r>
            <a:r>
              <a:rPr lang="en-ID" sz="1600" i="1" dirty="0"/>
              <a:t>web</a:t>
            </a:r>
            <a:r>
              <a:rPr lang="en-ID" sz="1600" dirty="0"/>
              <a:t> </a:t>
            </a:r>
            <a:r>
              <a:rPr lang="en-ID" sz="1600" dirty="0" err="1"/>
              <a:t>menggunakan</a:t>
            </a:r>
            <a:r>
              <a:rPr lang="en-ID" sz="1600" dirty="0"/>
              <a:t> </a:t>
            </a:r>
            <a:r>
              <a:rPr lang="en-ID" sz="1600" dirty="0" err="1"/>
              <a:t>pustaka</a:t>
            </a:r>
            <a:r>
              <a:rPr lang="en-ID" sz="1600" dirty="0"/>
              <a:t> </a:t>
            </a:r>
            <a:r>
              <a:rPr lang="en-ID" sz="1600" dirty="0" err="1"/>
              <a:t>Streamlit</a:t>
            </a:r>
            <a:r>
              <a:rPr lang="en-ID" sz="1600" dirty="0"/>
              <a:t>.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telah</a:t>
            </a:r>
            <a:r>
              <a:rPr lang="en-ID" sz="1600" dirty="0"/>
              <a:t> </a:t>
            </a:r>
            <a:r>
              <a:rPr lang="en-ID" sz="1600" dirty="0" err="1"/>
              <a:t>berhasil</a:t>
            </a:r>
            <a:r>
              <a:rPr lang="en-ID" sz="1600" dirty="0"/>
              <a:t> di-</a:t>
            </a:r>
            <a:r>
              <a:rPr lang="en-ID" sz="1600" i="1" dirty="0"/>
              <a:t>deploy</a:t>
            </a:r>
            <a:r>
              <a:rPr lang="en-ID" sz="1600" dirty="0"/>
              <a:t> </a:t>
            </a:r>
            <a:r>
              <a:rPr lang="en-ID" sz="1600" dirty="0" err="1"/>
              <a:t>ke</a:t>
            </a:r>
            <a:r>
              <a:rPr lang="en-ID" sz="1600" dirty="0"/>
              <a:t> </a:t>
            </a:r>
            <a:r>
              <a:rPr lang="en-ID" sz="1600" dirty="0" err="1"/>
              <a:t>dalam</a:t>
            </a:r>
            <a:r>
              <a:rPr lang="en-ID" sz="1600" dirty="0"/>
              <a:t> </a:t>
            </a:r>
            <a:r>
              <a:rPr lang="en-ID" sz="1600" dirty="0" err="1"/>
              <a:t>peladen</a:t>
            </a:r>
            <a:r>
              <a:rPr lang="en-ID" sz="1600" dirty="0"/>
              <a:t> </a:t>
            </a:r>
            <a:r>
              <a:rPr lang="en-ID" sz="1600" dirty="0" err="1"/>
              <a:t>publik</a:t>
            </a:r>
            <a:r>
              <a:rPr lang="en-ID" sz="1600" dirty="0"/>
              <a:t> (</a:t>
            </a:r>
            <a:r>
              <a:rPr lang="en-ID" sz="1600" dirty="0" err="1"/>
              <a:t>Streamlit</a:t>
            </a:r>
            <a:r>
              <a:rPr lang="en-ID" sz="1600" dirty="0"/>
              <a:t> Community Cloud). </a:t>
            </a:r>
            <a:r>
              <a:rPr lang="en-ID" sz="1600" dirty="0" err="1"/>
              <a:t>Seperti</a:t>
            </a:r>
            <a:r>
              <a:rPr lang="en-ID" sz="1600" dirty="0"/>
              <a:t> yang </a:t>
            </a:r>
            <a:r>
              <a:rPr lang="en-ID" sz="1600" dirty="0" err="1"/>
              <a:t>terlihat</a:t>
            </a:r>
            <a:r>
              <a:rPr lang="en-ID" sz="1600" dirty="0"/>
              <a:t> pada </a:t>
            </a:r>
            <a:r>
              <a:rPr lang="en-ID" sz="1600" dirty="0" err="1"/>
              <a:t>antarmuka</a:t>
            </a:r>
            <a:r>
              <a:rPr lang="en-ID" sz="1600" dirty="0"/>
              <a:t> </a:t>
            </a:r>
            <a:r>
              <a:rPr lang="en-ID" sz="1600" i="1" dirty="0"/>
              <a:t>user-centric</a:t>
            </a:r>
            <a:r>
              <a:rPr lang="en-ID" sz="1600" dirty="0"/>
              <a:t> di </a:t>
            </a:r>
            <a:r>
              <a:rPr lang="en-ID" sz="1600" dirty="0" err="1"/>
              <a:t>atas</a:t>
            </a:r>
            <a:r>
              <a:rPr lang="en-ID" sz="1600" dirty="0"/>
              <a:t>, </a:t>
            </a:r>
            <a:r>
              <a:rPr lang="en-ID" sz="1600" dirty="0" err="1"/>
              <a:t>kompleksitas</a:t>
            </a:r>
            <a:r>
              <a:rPr lang="en-ID" sz="1600" dirty="0"/>
              <a:t> </a:t>
            </a:r>
            <a:r>
              <a:rPr lang="en-ID" sz="1600" dirty="0" err="1"/>
              <a:t>algoritma</a:t>
            </a:r>
            <a:r>
              <a:rPr lang="en-ID" sz="1600" dirty="0"/>
              <a:t> </a:t>
            </a:r>
            <a:r>
              <a:rPr lang="en-ID" sz="1600" dirty="0" err="1"/>
              <a:t>XGBoost</a:t>
            </a:r>
            <a:r>
              <a:rPr lang="en-ID" sz="1600" dirty="0"/>
              <a:t> </a:t>
            </a:r>
            <a:r>
              <a:rPr lang="en-ID" sz="1600" dirty="0" err="1"/>
              <a:t>disembunyikan</a:t>
            </a:r>
            <a:r>
              <a:rPr lang="en-ID" sz="1600" dirty="0"/>
              <a:t> di area </a:t>
            </a:r>
            <a:r>
              <a:rPr lang="en-ID" sz="1600" i="1" dirty="0"/>
              <a:t>backend</a:t>
            </a:r>
            <a:r>
              <a:rPr lang="en-ID" sz="1600" dirty="0"/>
              <a:t>. </a:t>
            </a:r>
            <a:r>
              <a:rPr lang="en-ID" sz="1600" dirty="0" err="1"/>
              <a:t>Pengguna</a:t>
            </a:r>
            <a:r>
              <a:rPr lang="en-ID" sz="1600" dirty="0"/>
              <a:t> </a:t>
            </a:r>
            <a:r>
              <a:rPr lang="en-ID" sz="1600" dirty="0" err="1"/>
              <a:t>akhir</a:t>
            </a:r>
            <a:r>
              <a:rPr lang="en-ID" sz="1600" dirty="0"/>
              <a:t> </a:t>
            </a:r>
            <a:r>
              <a:rPr lang="en-ID" sz="1600" dirty="0" err="1"/>
              <a:t>cukup</a:t>
            </a:r>
            <a:r>
              <a:rPr lang="en-ID" sz="1600" dirty="0"/>
              <a:t> </a:t>
            </a:r>
            <a:r>
              <a:rPr lang="en-ID" sz="1600" dirty="0" err="1"/>
              <a:t>memasukkan</a:t>
            </a:r>
            <a:r>
              <a:rPr lang="en-ID" sz="1600" dirty="0"/>
              <a:t> </a:t>
            </a:r>
            <a:r>
              <a:rPr lang="en-ID" sz="1600" dirty="0" err="1"/>
              <a:t>pertanyaan</a:t>
            </a:r>
            <a:r>
              <a:rPr lang="en-ID" sz="1600" dirty="0"/>
              <a:t> pada form yang </a:t>
            </a:r>
            <a:r>
              <a:rPr lang="en-ID" sz="1600" dirty="0" err="1"/>
              <a:t>disediakan</a:t>
            </a:r>
            <a:r>
              <a:rPr lang="en-ID" sz="1600" dirty="0"/>
              <a:t>, dan </a:t>
            </a:r>
            <a:r>
              <a:rPr lang="en-ID" sz="1600" dirty="0" err="1"/>
              <a:t>aplikasi</a:t>
            </a:r>
            <a:r>
              <a:rPr lang="en-ID" sz="1600" dirty="0"/>
              <a:t> </a:t>
            </a:r>
            <a:r>
              <a:rPr lang="en-ID" sz="1600" dirty="0" err="1"/>
              <a:t>akan</a:t>
            </a:r>
            <a:r>
              <a:rPr lang="en-ID" sz="1600" dirty="0"/>
              <a:t> </a:t>
            </a:r>
            <a:r>
              <a:rPr lang="en-ID" sz="1600" dirty="0" err="1"/>
              <a:t>secara</a:t>
            </a:r>
            <a:r>
              <a:rPr lang="en-ID" sz="1600" dirty="0"/>
              <a:t> </a:t>
            </a:r>
            <a:r>
              <a:rPr lang="en-ID" sz="1600" dirty="0" err="1"/>
              <a:t>interaktif</a:t>
            </a:r>
            <a:r>
              <a:rPr lang="en-ID" sz="1600" dirty="0"/>
              <a:t> </a:t>
            </a:r>
            <a:r>
              <a:rPr lang="en-ID" sz="1600" dirty="0" err="1"/>
              <a:t>menampilkan</a:t>
            </a:r>
            <a:r>
              <a:rPr lang="en-ID" sz="1600" dirty="0"/>
              <a:t> </a:t>
            </a:r>
            <a:r>
              <a:rPr lang="en-ID" sz="1600" dirty="0" err="1"/>
              <a:t>kategori</a:t>
            </a:r>
            <a:r>
              <a:rPr lang="en-ID" sz="1600" dirty="0"/>
              <a:t> </a:t>
            </a:r>
            <a:r>
              <a:rPr lang="en-ID" sz="1600" dirty="0" err="1"/>
              <a:t>pedoman</a:t>
            </a:r>
            <a:r>
              <a:rPr lang="en-ID" sz="1600" dirty="0"/>
              <a:t> </a:t>
            </a:r>
            <a:r>
              <a:rPr lang="en-ID" sz="1600" dirty="0" err="1"/>
              <a:t>resmi</a:t>
            </a:r>
            <a:r>
              <a:rPr lang="en-ID" sz="1600" dirty="0"/>
              <a:t> </a:t>
            </a:r>
            <a:r>
              <a:rPr lang="en-ID" sz="1600" dirty="0" err="1"/>
              <a:t>lengkap</a:t>
            </a:r>
            <a:r>
              <a:rPr lang="en-ID" sz="1600" dirty="0"/>
              <a:t> </a:t>
            </a:r>
            <a:r>
              <a:rPr lang="en-ID" sz="1600" dirty="0" err="1"/>
              <a:t>dengan</a:t>
            </a:r>
            <a:r>
              <a:rPr lang="en-ID" sz="1600" dirty="0"/>
              <a:t> </a:t>
            </a:r>
            <a:r>
              <a:rPr lang="en-ID" sz="1600" dirty="0" err="1"/>
              <a:t>tingkat</a:t>
            </a:r>
            <a:r>
              <a:rPr lang="en-ID" sz="1600" dirty="0"/>
              <a:t> </a:t>
            </a:r>
            <a:r>
              <a:rPr lang="en-ID" sz="1600" dirty="0" err="1"/>
              <a:t>probabilitas</a:t>
            </a:r>
            <a:r>
              <a:rPr lang="en-ID" sz="1600" dirty="0"/>
              <a:t> </a:t>
            </a:r>
            <a:r>
              <a:rPr lang="en-ID" sz="1600" dirty="0" err="1"/>
              <a:t>keyakinan</a:t>
            </a:r>
            <a:r>
              <a:rPr lang="en-ID" sz="1600" dirty="0"/>
              <a:t> (</a:t>
            </a:r>
            <a:r>
              <a:rPr lang="en-ID" sz="1600" i="1" dirty="0"/>
              <a:t>confidence score</a:t>
            </a:r>
            <a:r>
              <a:rPr lang="en-ID" sz="1600" dirty="0"/>
              <a:t>), </a:t>
            </a:r>
            <a:r>
              <a:rPr lang="en-ID" sz="1600" dirty="0" err="1"/>
              <a:t>mendemonstrasikan</a:t>
            </a:r>
            <a:r>
              <a:rPr lang="en-ID" sz="1600" dirty="0"/>
              <a:t> </a:t>
            </a:r>
            <a:r>
              <a:rPr lang="en-ID" sz="1600" dirty="0" err="1"/>
              <a:t>kelayakan</a:t>
            </a:r>
            <a:r>
              <a:rPr lang="en-ID" sz="1600" dirty="0"/>
              <a:t> </a:t>
            </a:r>
            <a:r>
              <a:rPr lang="en-ID" sz="1600" dirty="0" err="1"/>
              <a:t>sistem</a:t>
            </a:r>
            <a:r>
              <a:rPr lang="en-ID" sz="1600" dirty="0"/>
              <a:t> </a:t>
            </a:r>
            <a:r>
              <a:rPr lang="en-ID" sz="1600" dirty="0" err="1"/>
              <a:t>ini</a:t>
            </a:r>
            <a:r>
              <a:rPr lang="en-ID" sz="1600" dirty="0"/>
              <a:t> </a:t>
            </a:r>
            <a:r>
              <a:rPr lang="en-ID" sz="1600" dirty="0" err="1"/>
              <a:t>untuk</a:t>
            </a:r>
            <a:r>
              <a:rPr lang="en-ID" sz="1600" dirty="0"/>
              <a:t> </a:t>
            </a:r>
            <a:r>
              <a:rPr lang="en-ID" sz="1600" dirty="0" err="1"/>
              <a:t>diproduksi</a:t>
            </a:r>
            <a:r>
              <a:rPr lang="en-ID" sz="1600" dirty="0"/>
              <a:t> </a:t>
            </a:r>
            <a:r>
              <a:rPr lang="en-ID" sz="1600" dirty="0" err="1"/>
              <a:t>sebagai</a:t>
            </a:r>
            <a:r>
              <a:rPr lang="en-ID" sz="1600" dirty="0"/>
              <a:t> </a:t>
            </a:r>
            <a:r>
              <a:rPr lang="en-ID" sz="1600" dirty="0" err="1"/>
              <a:t>layanan</a:t>
            </a:r>
            <a:r>
              <a:rPr lang="en-ID" sz="1600" dirty="0"/>
              <a:t> </a:t>
            </a:r>
            <a:r>
              <a:rPr lang="en-ID" sz="1600" dirty="0" err="1"/>
              <a:t>akademik</a:t>
            </a:r>
            <a:r>
              <a:rPr lang="en-ID" sz="1600" dirty="0"/>
              <a:t> </a:t>
            </a:r>
            <a:r>
              <a:rPr lang="en-ID" sz="1600" dirty="0" err="1"/>
              <a:t>operasional</a:t>
            </a:r>
            <a:r>
              <a:rPr lang="en-ID" sz="1600" dirty="0"/>
              <a:t> di </a:t>
            </a:r>
            <a:r>
              <a:rPr lang="en-ID" sz="1600" dirty="0" err="1"/>
              <a:t>kampus</a:t>
            </a:r>
            <a:r>
              <a:rPr lang="en-ID" sz="16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2E5F7B-4A26-F634-6C19-5E8046F81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471" y="1964085"/>
            <a:ext cx="7551174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570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FE378F-FFE6-AEDA-4EEB-11798BE34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C6FE9-EB36-C7A0-9213-C381D5411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ID" dirty="0"/>
              <a:t>Kesimpulan Akhir dan Saran </a:t>
            </a:r>
            <a:r>
              <a:rPr lang="en-ID" dirty="0" err="1"/>
              <a:t>Pengembangan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1C8723-3EFC-08E6-CAE9-4F4F5CB3A0B7}"/>
              </a:ext>
            </a:extLst>
          </p:cNvPr>
          <p:cNvSpPr txBox="1"/>
          <p:nvPr/>
        </p:nvSpPr>
        <p:spPr>
          <a:xfrm>
            <a:off x="452285" y="2113935"/>
            <a:ext cx="1133659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D" sz="2000" dirty="0"/>
              <a:t>Kesimpulan: </a:t>
            </a:r>
            <a:r>
              <a:rPr lang="en-ID" sz="2000" dirty="0" err="1"/>
              <a:t>Penelitian</a:t>
            </a:r>
            <a:r>
              <a:rPr lang="en-ID" sz="2000" dirty="0"/>
              <a:t> </a:t>
            </a:r>
            <a:r>
              <a:rPr lang="en-ID" sz="2000" dirty="0" err="1"/>
              <a:t>ini</a:t>
            </a:r>
            <a:r>
              <a:rPr lang="en-ID" sz="2000" dirty="0"/>
              <a:t> </a:t>
            </a:r>
            <a:r>
              <a:rPr lang="en-ID" sz="2000" dirty="0" err="1"/>
              <a:t>mengonfirmasi</a:t>
            </a:r>
            <a:r>
              <a:rPr lang="en-ID" sz="2000" dirty="0"/>
              <a:t> </a:t>
            </a:r>
            <a:r>
              <a:rPr lang="en-ID" sz="2000" dirty="0" err="1"/>
              <a:t>bahwa</a:t>
            </a:r>
            <a:r>
              <a:rPr lang="en-ID" sz="2000" dirty="0"/>
              <a:t> </a:t>
            </a:r>
            <a:r>
              <a:rPr lang="en-ID" sz="2000" dirty="0" err="1"/>
              <a:t>penerapan</a:t>
            </a:r>
            <a:r>
              <a:rPr lang="en-ID" sz="2000" dirty="0"/>
              <a:t> </a:t>
            </a:r>
            <a:r>
              <a:rPr lang="en-ID" sz="2000" dirty="0" err="1"/>
              <a:t>arsitektur</a:t>
            </a:r>
            <a:r>
              <a:rPr lang="en-ID" sz="2000" dirty="0"/>
              <a:t> NLP </a:t>
            </a:r>
            <a:r>
              <a:rPr lang="en-ID" sz="2000" dirty="0" err="1"/>
              <a:t>menggunakan</a:t>
            </a:r>
            <a:r>
              <a:rPr lang="en-ID" sz="2000" dirty="0"/>
              <a:t> </a:t>
            </a:r>
            <a:r>
              <a:rPr lang="en-ID" sz="2000" dirty="0" err="1"/>
              <a:t>teknik</a:t>
            </a:r>
            <a:r>
              <a:rPr lang="en-ID" sz="2000" dirty="0"/>
              <a:t> TF-IDF dan </a:t>
            </a:r>
            <a:r>
              <a:rPr lang="en-ID" sz="2000" dirty="0" err="1"/>
              <a:t>algoritma</a:t>
            </a:r>
            <a:r>
              <a:rPr lang="en-ID" sz="2000" dirty="0"/>
              <a:t> </a:t>
            </a:r>
            <a:r>
              <a:rPr lang="en-ID" sz="2000" dirty="0" err="1"/>
              <a:t>XGBoost</a:t>
            </a:r>
            <a:r>
              <a:rPr lang="en-ID" sz="2000" dirty="0"/>
              <a:t> sangat </a:t>
            </a:r>
            <a:r>
              <a:rPr lang="en-ID" sz="2000" dirty="0" err="1"/>
              <a:t>layak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merutekan</a:t>
            </a:r>
            <a:r>
              <a:rPr lang="en-ID" sz="2000" dirty="0"/>
              <a:t> </a:t>
            </a:r>
            <a:r>
              <a:rPr lang="en-ID" sz="2000" dirty="0" err="1"/>
              <a:t>dokumen</a:t>
            </a:r>
            <a:r>
              <a:rPr lang="en-ID" sz="2000" dirty="0"/>
              <a:t> FAQ STMKG. </a:t>
            </a:r>
            <a:r>
              <a:rPr lang="en-ID" sz="2000" dirty="0" err="1"/>
              <a:t>Dengan</a:t>
            </a:r>
            <a:r>
              <a:rPr lang="en-ID" sz="2000" dirty="0"/>
              <a:t> </a:t>
            </a:r>
            <a:r>
              <a:rPr lang="en-ID" sz="2000" dirty="0" err="1"/>
              <a:t>capaian</a:t>
            </a:r>
            <a:r>
              <a:rPr lang="en-ID" sz="2000" dirty="0"/>
              <a:t> </a:t>
            </a:r>
            <a:r>
              <a:rPr lang="en-ID" sz="2000" dirty="0" err="1"/>
              <a:t>akurasi</a:t>
            </a:r>
            <a:r>
              <a:rPr lang="en-ID" sz="2000" dirty="0"/>
              <a:t> </a:t>
            </a:r>
            <a:r>
              <a:rPr lang="en-ID" sz="2000" dirty="0" err="1"/>
              <a:t>operasional</a:t>
            </a:r>
            <a:r>
              <a:rPr lang="en-ID" sz="2000" dirty="0"/>
              <a:t> </a:t>
            </a:r>
            <a:r>
              <a:rPr lang="en-ID" sz="2000" dirty="0" err="1"/>
              <a:t>sebesar</a:t>
            </a:r>
            <a:r>
              <a:rPr lang="en-ID" sz="2000" dirty="0"/>
              <a:t> 82.60%,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mampu</a:t>
            </a:r>
            <a:r>
              <a:rPr lang="en-ID" sz="2000" dirty="0"/>
              <a:t> </a:t>
            </a:r>
            <a:r>
              <a:rPr lang="en-ID" sz="2000" dirty="0" err="1"/>
              <a:t>membaca</a:t>
            </a:r>
            <a:r>
              <a:rPr lang="en-ID" sz="2000" dirty="0"/>
              <a:t> dan </a:t>
            </a:r>
            <a:r>
              <a:rPr lang="en-ID" sz="2000" dirty="0" err="1"/>
              <a:t>mengklasifikasikan</a:t>
            </a:r>
            <a:r>
              <a:rPr lang="en-ID" sz="2000" dirty="0"/>
              <a:t> intent </a:t>
            </a:r>
            <a:r>
              <a:rPr lang="en-ID" sz="2000" dirty="0" err="1"/>
              <a:t>pertanyaan</a:t>
            </a:r>
            <a:r>
              <a:rPr lang="en-ID" sz="2000" dirty="0"/>
              <a:t> </a:t>
            </a:r>
            <a:r>
              <a:rPr lang="en-ID" sz="2000" dirty="0" err="1"/>
              <a:t>taruna</a:t>
            </a:r>
            <a:r>
              <a:rPr lang="en-ID" sz="2000" dirty="0"/>
              <a:t>/</a:t>
            </a:r>
            <a:r>
              <a:rPr lang="en-ID" sz="2000" dirty="0" err="1"/>
              <a:t>i</a:t>
            </a:r>
            <a:r>
              <a:rPr lang="en-ID" sz="2000" dirty="0"/>
              <a:t>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otomatis</a:t>
            </a:r>
            <a:r>
              <a:rPr lang="en-ID" sz="2000" dirty="0"/>
              <a:t> dan </a:t>
            </a:r>
            <a:r>
              <a:rPr lang="en-ID" sz="2000" dirty="0" err="1"/>
              <a:t>transparan</a:t>
            </a:r>
            <a:r>
              <a:rPr lang="en-ID" sz="2000" dirty="0"/>
              <a:t>. </a:t>
            </a:r>
            <a:r>
              <a:rPr lang="en-ID" sz="2000" dirty="0" err="1"/>
              <a:t>Implementasi</a:t>
            </a:r>
            <a:r>
              <a:rPr lang="en-ID" sz="2000" dirty="0"/>
              <a:t> </a:t>
            </a:r>
            <a:r>
              <a:rPr lang="en-ID" sz="2000" dirty="0" err="1"/>
              <a:t>berbasis</a:t>
            </a:r>
            <a:r>
              <a:rPr lang="en-ID" sz="2000" dirty="0"/>
              <a:t> </a:t>
            </a:r>
            <a:r>
              <a:rPr lang="en-ID" sz="2000" dirty="0" err="1"/>
              <a:t>Streamlit</a:t>
            </a:r>
            <a:r>
              <a:rPr lang="en-ID" sz="2000" dirty="0"/>
              <a:t> Cloud </a:t>
            </a:r>
            <a:r>
              <a:rPr lang="en-ID" sz="2000" dirty="0" err="1"/>
              <a:t>membuktikan</a:t>
            </a:r>
            <a:r>
              <a:rPr lang="en-ID" sz="2000" dirty="0"/>
              <a:t> </a:t>
            </a:r>
            <a:r>
              <a:rPr lang="en-ID" sz="2000" dirty="0" err="1"/>
              <a:t>produk</a:t>
            </a:r>
            <a:r>
              <a:rPr lang="en-ID" sz="2000" dirty="0"/>
              <a:t> </a:t>
            </a:r>
            <a:r>
              <a:rPr lang="en-ID" sz="2000" dirty="0" err="1"/>
              <a:t>akhir</a:t>
            </a:r>
            <a:r>
              <a:rPr lang="en-ID" sz="2000" dirty="0"/>
              <a:t> </a:t>
            </a:r>
            <a:r>
              <a:rPr lang="en-ID" sz="2000" dirty="0" err="1"/>
              <a:t>siap</a:t>
            </a:r>
            <a:r>
              <a:rPr lang="en-ID" sz="2000" dirty="0"/>
              <a:t> </a:t>
            </a:r>
            <a:r>
              <a:rPr lang="en-ID" sz="2000" dirty="0" err="1"/>
              <a:t>diakses</a:t>
            </a:r>
            <a:r>
              <a:rPr lang="en-ID" sz="2000" dirty="0"/>
              <a:t> dan </a:t>
            </a:r>
            <a:r>
              <a:rPr lang="en-ID" sz="2000" dirty="0" err="1"/>
              <a:t>diintegrasikan</a:t>
            </a:r>
            <a:r>
              <a:rPr lang="en-ID" sz="2000" dirty="0"/>
              <a:t> </a:t>
            </a:r>
            <a:r>
              <a:rPr lang="en-ID" sz="2000" dirty="0" err="1"/>
              <a:t>sebagai</a:t>
            </a:r>
            <a:r>
              <a:rPr lang="en-ID" sz="2000" dirty="0"/>
              <a:t> </a:t>
            </a:r>
            <a:r>
              <a:rPr lang="en-ID" sz="2000" dirty="0" err="1"/>
              <a:t>instrumen</a:t>
            </a:r>
            <a:r>
              <a:rPr lang="en-ID" sz="2000" dirty="0"/>
              <a:t> </a:t>
            </a:r>
            <a:r>
              <a:rPr lang="en-ID" sz="2000" dirty="0" err="1"/>
              <a:t>peningkat</a:t>
            </a:r>
            <a:r>
              <a:rPr lang="en-ID" sz="2000" dirty="0"/>
              <a:t> </a:t>
            </a:r>
            <a:r>
              <a:rPr lang="en-ID" sz="2000" dirty="0" err="1"/>
              <a:t>efisiensi</a:t>
            </a:r>
            <a:r>
              <a:rPr lang="en-ID" sz="2000" dirty="0"/>
              <a:t> </a:t>
            </a:r>
            <a:r>
              <a:rPr lang="en-ID" sz="2000" dirty="0" err="1"/>
              <a:t>layanan</a:t>
            </a:r>
            <a:r>
              <a:rPr lang="en-ID" sz="2000" dirty="0"/>
              <a:t> tata </a:t>
            </a:r>
            <a:r>
              <a:rPr lang="en-ID" sz="2000" dirty="0" err="1"/>
              <a:t>usaha</a:t>
            </a:r>
            <a:r>
              <a:rPr lang="en-ID" sz="2000" dirty="0"/>
              <a:t>.</a:t>
            </a:r>
          </a:p>
          <a:p>
            <a:endParaRPr lang="en-ID" sz="2000" dirty="0"/>
          </a:p>
          <a:p>
            <a:r>
              <a:rPr lang="en-ID" sz="2000" dirty="0" err="1"/>
              <a:t>Rekomendasi</a:t>
            </a:r>
            <a:r>
              <a:rPr lang="en-ID" sz="2000" dirty="0"/>
              <a:t> </a:t>
            </a:r>
            <a:r>
              <a:rPr lang="en-ID" sz="2000" dirty="0" err="1"/>
              <a:t>Lanjutan</a:t>
            </a:r>
            <a:r>
              <a:rPr lang="en-ID" sz="2000" dirty="0"/>
              <a:t>: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/>
              <a:t>Augmentasi</a:t>
            </a:r>
            <a:r>
              <a:rPr lang="en-ID" sz="2000" dirty="0"/>
              <a:t> Dataset: </a:t>
            </a:r>
            <a:r>
              <a:rPr lang="en-ID" sz="2000" dirty="0" err="1"/>
              <a:t>Melakukan</a:t>
            </a:r>
            <a:r>
              <a:rPr lang="en-ID" sz="2000" dirty="0"/>
              <a:t> </a:t>
            </a:r>
            <a:r>
              <a:rPr lang="en-ID" sz="2000" dirty="0" err="1"/>
              <a:t>penambahan</a:t>
            </a:r>
            <a:r>
              <a:rPr lang="en-ID" sz="2000" dirty="0"/>
              <a:t> data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sintetis</a:t>
            </a:r>
            <a:r>
              <a:rPr lang="en-ID" sz="2000" dirty="0"/>
              <a:t>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melatih</a:t>
            </a:r>
            <a:r>
              <a:rPr lang="en-ID" sz="2000" dirty="0"/>
              <a:t> model </a:t>
            </a:r>
            <a:r>
              <a:rPr lang="en-ID" sz="2000" dirty="0" err="1"/>
              <a:t>mengenali</a:t>
            </a:r>
            <a:r>
              <a:rPr lang="en-ID" sz="2000" dirty="0"/>
              <a:t> </a:t>
            </a:r>
            <a:r>
              <a:rPr lang="en-ID" sz="2000" dirty="0" err="1"/>
              <a:t>bahasa</a:t>
            </a:r>
            <a:r>
              <a:rPr lang="en-ID" sz="2000" dirty="0"/>
              <a:t> </a:t>
            </a:r>
            <a:r>
              <a:rPr lang="en-ID" sz="2000" i="1" dirty="0"/>
              <a:t>slang</a:t>
            </a:r>
            <a:r>
              <a:rPr lang="en-ID" sz="2000" dirty="0"/>
              <a:t>, </a:t>
            </a:r>
            <a:r>
              <a:rPr lang="en-ID" sz="2000" dirty="0" err="1"/>
              <a:t>singkatan</a:t>
            </a:r>
            <a:r>
              <a:rPr lang="en-ID" sz="2000" dirty="0"/>
              <a:t> </a:t>
            </a:r>
            <a:r>
              <a:rPr lang="en-ID" sz="2000" dirty="0" err="1"/>
              <a:t>tidak</a:t>
            </a:r>
            <a:r>
              <a:rPr lang="en-ID" sz="2000" dirty="0"/>
              <a:t> </a:t>
            </a:r>
            <a:r>
              <a:rPr lang="en-ID" sz="2000" dirty="0" err="1"/>
              <a:t>baku</a:t>
            </a:r>
            <a:r>
              <a:rPr lang="en-ID" sz="2000" dirty="0"/>
              <a:t>, </a:t>
            </a:r>
            <a:r>
              <a:rPr lang="en-ID" sz="2000" dirty="0" err="1"/>
              <a:t>maupun</a:t>
            </a:r>
            <a:r>
              <a:rPr lang="en-ID" sz="2000" dirty="0"/>
              <a:t> </a:t>
            </a:r>
            <a:r>
              <a:rPr lang="en-ID" sz="2000" dirty="0" err="1"/>
              <a:t>kesalahan</a:t>
            </a:r>
            <a:r>
              <a:rPr lang="en-ID" sz="2000" dirty="0"/>
              <a:t> </a:t>
            </a:r>
            <a:r>
              <a:rPr lang="en-ID" sz="2000" dirty="0" err="1"/>
              <a:t>pengetikan</a:t>
            </a:r>
            <a:r>
              <a:rPr lang="en-ID" sz="2000" dirty="0"/>
              <a:t> (</a:t>
            </a:r>
            <a:r>
              <a:rPr lang="en-ID" sz="2000" i="1" dirty="0"/>
              <a:t>typos</a:t>
            </a:r>
            <a:r>
              <a:rPr lang="en-ID" sz="20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en-ID" sz="2000" dirty="0" err="1"/>
              <a:t>Transisi</a:t>
            </a:r>
            <a:r>
              <a:rPr lang="en-ID" sz="2000" dirty="0"/>
              <a:t> </a:t>
            </a:r>
            <a:r>
              <a:rPr lang="en-ID" sz="2000" dirty="0" err="1"/>
              <a:t>Pemodelan</a:t>
            </a:r>
            <a:r>
              <a:rPr lang="en-ID" sz="2000" dirty="0"/>
              <a:t>: </a:t>
            </a:r>
            <a:r>
              <a:rPr lang="en-ID" sz="2000" dirty="0" err="1"/>
              <a:t>Memperbarui</a:t>
            </a:r>
            <a:r>
              <a:rPr lang="en-ID" sz="2000" dirty="0"/>
              <a:t> </a:t>
            </a:r>
            <a:r>
              <a:rPr lang="en-ID" sz="2000" dirty="0" err="1"/>
              <a:t>sistem</a:t>
            </a:r>
            <a:r>
              <a:rPr lang="en-ID" sz="2000" dirty="0"/>
              <a:t> </a:t>
            </a:r>
            <a:r>
              <a:rPr lang="en-ID" sz="2000" dirty="0" err="1"/>
              <a:t>ekstraksi</a:t>
            </a:r>
            <a:r>
              <a:rPr lang="en-ID" sz="2000" dirty="0"/>
              <a:t> TF-IDF </a:t>
            </a:r>
            <a:r>
              <a:rPr lang="en-ID" sz="2000" dirty="0" err="1"/>
              <a:t>menuju</a:t>
            </a:r>
            <a:r>
              <a:rPr lang="en-ID" sz="2000" dirty="0"/>
              <a:t> </a:t>
            </a:r>
            <a:r>
              <a:rPr lang="en-ID" sz="2000" i="1" dirty="0"/>
              <a:t>Word Embeddings</a:t>
            </a:r>
            <a:r>
              <a:rPr lang="en-ID" sz="2000" dirty="0"/>
              <a:t> yang </a:t>
            </a:r>
            <a:r>
              <a:rPr lang="en-ID" sz="2000" dirty="0" err="1"/>
              <a:t>lebih</a:t>
            </a:r>
            <a:r>
              <a:rPr lang="en-ID" sz="2000" dirty="0"/>
              <a:t> </a:t>
            </a:r>
            <a:r>
              <a:rPr lang="en-ID" sz="2000" dirty="0" err="1"/>
              <a:t>mutakhir</a:t>
            </a:r>
            <a:r>
              <a:rPr lang="en-ID" sz="2000" dirty="0"/>
              <a:t> (</a:t>
            </a:r>
            <a:r>
              <a:rPr lang="en-ID" sz="2000" dirty="0" err="1"/>
              <a:t>seperti</a:t>
            </a:r>
            <a:r>
              <a:rPr lang="en-ID" sz="2000" dirty="0"/>
              <a:t> </a:t>
            </a:r>
            <a:r>
              <a:rPr lang="en-ID" sz="2000" dirty="0" err="1"/>
              <a:t>IndoBERT</a:t>
            </a:r>
            <a:r>
              <a:rPr lang="en-ID" sz="2000" dirty="0"/>
              <a:t>) </a:t>
            </a:r>
            <a:r>
              <a:rPr lang="en-ID" sz="2000" dirty="0" err="1"/>
              <a:t>untuk</a:t>
            </a:r>
            <a:r>
              <a:rPr lang="en-ID" sz="2000" dirty="0"/>
              <a:t> </a:t>
            </a:r>
            <a:r>
              <a:rPr lang="en-ID" sz="2000" dirty="0" err="1"/>
              <a:t>mengevaluasi</a:t>
            </a:r>
            <a:r>
              <a:rPr lang="en-ID" sz="2000" dirty="0"/>
              <a:t> </a:t>
            </a:r>
            <a:r>
              <a:rPr lang="en-ID" sz="2000" dirty="0" err="1"/>
              <a:t>konteks</a:t>
            </a:r>
            <a:r>
              <a:rPr lang="en-ID" sz="2000" dirty="0"/>
              <a:t> </a:t>
            </a:r>
            <a:r>
              <a:rPr lang="en-ID" sz="2000" dirty="0" err="1"/>
              <a:t>semantik</a:t>
            </a:r>
            <a:r>
              <a:rPr lang="en-ID" sz="2000" dirty="0"/>
              <a:t> dan </a:t>
            </a:r>
            <a:r>
              <a:rPr lang="en-ID" sz="2000" dirty="0" err="1"/>
              <a:t>intonasi</a:t>
            </a:r>
            <a:r>
              <a:rPr lang="en-ID" sz="2000" dirty="0"/>
              <a:t> </a:t>
            </a:r>
            <a:r>
              <a:rPr lang="en-ID" sz="2000" dirty="0" err="1"/>
              <a:t>urutan</a:t>
            </a:r>
            <a:r>
              <a:rPr lang="en-ID" sz="2000" dirty="0"/>
              <a:t> kata </a:t>
            </a:r>
            <a:r>
              <a:rPr lang="en-ID" sz="2000" dirty="0" err="1"/>
              <a:t>secara</a:t>
            </a:r>
            <a:r>
              <a:rPr lang="en-ID" sz="2000" dirty="0"/>
              <a:t> </a:t>
            </a:r>
            <a:r>
              <a:rPr lang="en-ID" sz="2000" dirty="0" err="1"/>
              <a:t>utuh</a:t>
            </a:r>
            <a:r>
              <a:rPr lang="en-ID" sz="2000" dirty="0"/>
              <a:t>.</a:t>
            </a:r>
          </a:p>
          <a:p>
            <a:pPr algn="just"/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1456059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  <p:sp>
        <p:nvSpPr>
          <p:cNvPr id="6" name="Subtitle 5">
            <a:extLst>
              <a:ext uri="{FF2B5EF4-FFF2-40B4-BE49-F238E27FC236}">
                <a16:creationId xmlns:a16="http://schemas.microsoft.com/office/drawing/2014/main" id="{CCF19BDF-ED43-A00B-EFD8-8E3CF66AA54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ID" sz="2000" dirty="0"/>
          </a:p>
        </p:txBody>
      </p:sp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57</TotalTime>
  <Words>1121</Words>
  <Application>Microsoft Office PowerPoint</Application>
  <PresentationFormat>Widescreen</PresentationFormat>
  <Paragraphs>40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Gill Sans MT</vt:lpstr>
      <vt:lpstr>Wingdings 2</vt:lpstr>
      <vt:lpstr>Custom</vt:lpstr>
      <vt:lpstr>PENGEMBANGAN SISTEM SMART ASSISTANT BERBASIS MACHINE LEARNING UNTUK KLASIFIKASI FAQ TARUNA/I STMKG</vt:lpstr>
      <vt:lpstr>Latar BELAKANG MASALAH</vt:lpstr>
      <vt:lpstr>TUJUAN</vt:lpstr>
      <vt:lpstr>Metodologi Arsitektur Pemrosesan (Data Pipeline)</vt:lpstr>
      <vt:lpstr>Eksplorasi Data Analisis: Keseimbangan Distribusi Kelas</vt:lpstr>
      <vt:lpstr>Analisis Frekuensi Kata dan Kualitas Fitur Teks</vt:lpstr>
      <vt:lpstr>Evaluasi Akurasi dan Analisis Confusion Matrix</vt:lpstr>
      <vt:lpstr>Validasi Logika Keputusan Menggunakan LIME</vt:lpstr>
      <vt:lpstr>Implementasi Smart Assistant Berbasis Streamlit Cloud</vt:lpstr>
      <vt:lpstr>Kesimpulan Akhir dan Saran Pengembangan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Wildan Zakaria</dc:creator>
  <cp:lastModifiedBy>Wildan Zakaria</cp:lastModifiedBy>
  <cp:revision>1</cp:revision>
  <dcterms:created xsi:type="dcterms:W3CDTF">2026-07-18T17:59:57Z</dcterms:created>
  <dcterms:modified xsi:type="dcterms:W3CDTF">2026-07-18T18:57:26Z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